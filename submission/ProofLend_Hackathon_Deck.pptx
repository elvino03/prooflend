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371cec859c4b6b" /><Relationship Type="http://schemas.openxmlformats.org/officeDocument/2006/relationships/extended-properties" Target="/docProps/app.xml" Id="Rf159d46db60d404e" /><Relationship Type="http://schemas.openxmlformats.org/officeDocument/2006/relationships/officeDocument" Target="/ppt/presentation.xml" Id="Rc8074b07c74045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83c9aaf4e04f16"/>
  </p:sldMasterIdLst>
  <p:notesMasterIdLst>
    <p:notesMasterId xmlns:r="http://schemas.openxmlformats.org/officeDocument/2006/relationships" r:id="R485bfe4553bb41cb"/>
  </p:notesMasterIdLst>
  <p:sldIdLst>
    <p:sldId xmlns:r="http://schemas.openxmlformats.org/officeDocument/2006/relationships" id="256" r:id="Rdb8ea2fef55c4c7e"/>
    <p:sldId xmlns:r="http://schemas.openxmlformats.org/officeDocument/2006/relationships" id="257" r:id="Rbb5c6f75f41b4280"/>
    <p:sldId xmlns:r="http://schemas.openxmlformats.org/officeDocument/2006/relationships" id="258" r:id="Re0df972c72484b69"/>
    <p:sldId xmlns:r="http://schemas.openxmlformats.org/officeDocument/2006/relationships" id="259" r:id="Rb14c07a66ca044c6"/>
    <p:sldId xmlns:r="http://schemas.openxmlformats.org/officeDocument/2006/relationships" id="260" r:id="R1be7515f413440fa"/>
    <p:sldId xmlns:r="http://schemas.openxmlformats.org/officeDocument/2006/relationships" id="261" r:id="R0800907882d44987"/>
    <p:sldId xmlns:r="http://schemas.openxmlformats.org/officeDocument/2006/relationships" id="262" r:id="R048ed67e5ce443ad"/>
    <p:sldId xmlns:r="http://schemas.openxmlformats.org/officeDocument/2006/relationships" id="263" r:id="Rb337ec684d8a42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a03a2f34924da9" /><Relationship Type="http://schemas.openxmlformats.org/officeDocument/2006/relationships/slideMaster" Target="/ppt/slideMasters/slideMaster1.xml" Id="R7c83c9aaf4e04f16" /><Relationship Type="http://schemas.openxmlformats.org/officeDocument/2006/relationships/notesMaster" Target="/ppt/notesMasters/notesMaster1.xml" Id="R485bfe4553bb41cb" /><Relationship Type="http://schemas.openxmlformats.org/officeDocument/2006/relationships/presProps" Target="/ppt/presProps.xml" Id="Rdb65d4b9e8f24f8b" /><Relationship Type="http://schemas.openxmlformats.org/officeDocument/2006/relationships/tableStyles" Target="/ppt/tableStyles.xml" Id="Redb5efdd1f7d4e40" /><Relationship Type="http://schemas.openxmlformats.org/officeDocument/2006/relationships/slide" Target="/ppt/slides/slide1.xml" Id="Rdb8ea2fef55c4c7e" /><Relationship Type="http://schemas.openxmlformats.org/officeDocument/2006/relationships/slide" Target="/ppt/slides/slide2.xml" Id="Rbb5c6f75f41b4280" /><Relationship Type="http://schemas.openxmlformats.org/officeDocument/2006/relationships/slide" Target="/ppt/slides/slide3.xml" Id="Re0df972c72484b69" /><Relationship Type="http://schemas.openxmlformats.org/officeDocument/2006/relationships/slide" Target="/ppt/slides/slide4.xml" Id="Rb14c07a66ca044c6" /><Relationship Type="http://schemas.openxmlformats.org/officeDocument/2006/relationships/slide" Target="/ppt/slides/slide5.xml" Id="R1be7515f413440fa" /><Relationship Type="http://schemas.openxmlformats.org/officeDocument/2006/relationships/slide" Target="/ppt/slides/slide6.xml" Id="R0800907882d44987" /><Relationship Type="http://schemas.openxmlformats.org/officeDocument/2006/relationships/slide" Target="/ppt/slides/slide7.xml" Id="R048ed67e5ce443ad" /><Relationship Type="http://schemas.openxmlformats.org/officeDocument/2006/relationships/slide" Target="/ppt/slides/slide8.xml" Id="Rb337ec684d8a42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4d23c0937e47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roofLend">
      <a:dk1>
        <a:srgbClr val="07110E"/>
      </a:dk1>
      <a:lt1>
        <a:srgbClr val="F3F7EF"/>
      </a:lt1>
      <a:dk2>
        <a:srgbClr val="17352C"/>
      </a:dk2>
      <a:lt2>
        <a:srgbClr val="E2EBDD"/>
      </a:lt2>
      <a:accent1>
        <a:srgbClr val="D8FE60"/>
      </a:accent1>
      <a:accent2>
        <a:srgbClr val="75A48B"/>
      </a:accent2>
      <a:accent3>
        <a:srgbClr val="F2D78D"/>
      </a:accent3>
      <a:accent4>
        <a:srgbClr val="EF8F83"/>
      </a:accent4>
      <a:accent5>
        <a:srgbClr val="8B7CF6"/>
      </a:accent5>
      <a:accent6>
        <a:srgbClr val="67C4D4"/>
      </a:accent6>
      <a:hlink>
        <a:srgbClr val="D8FE60"/>
      </a:hlink>
      <a:folHlink>
        <a:srgbClr val="A7C84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ofLen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f71e3ca6d74244" /><Relationship Type="http://schemas.openxmlformats.org/officeDocument/2006/relationships/notesMaster" Target="/ppt/notesMasters/notesMaster1.xml" Id="R8c0e3b2afed140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181111e1984d12" /><Relationship Type="http://schemas.openxmlformats.org/officeDocument/2006/relationships/notesMaster" Target="/ppt/notesMasters/notesMaster1.xml" Id="R9320c52443934e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60277c3b9949b4" /><Relationship Type="http://schemas.openxmlformats.org/officeDocument/2006/relationships/notesMaster" Target="/ppt/notesMasters/notesMaster1.xml" Id="Rc85a5f913b5241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1b0533385c46f1" /><Relationship Type="http://schemas.openxmlformats.org/officeDocument/2006/relationships/notesMaster" Target="/ppt/notesMasters/notesMaster1.xml" Id="Ra19bcbc9f3d146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d39749aab34ced" /><Relationship Type="http://schemas.openxmlformats.org/officeDocument/2006/relationships/notesMaster" Target="/ppt/notesMasters/notesMaster1.xml" Id="R463c061927c843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9964f756b74553" /><Relationship Type="http://schemas.openxmlformats.org/officeDocument/2006/relationships/notesMaster" Target="/ppt/notesMasters/notesMaster1.xml" Id="R300ef52e1e174e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a440faf0e64203" /><Relationship Type="http://schemas.openxmlformats.org/officeDocument/2006/relationships/notesMaster" Target="/ppt/notesMasters/notesMaster1.xml" Id="Rf92c0e0cda8a47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aba51b1afb48c6" /><Relationship Type="http://schemas.openxmlformats.org/officeDocument/2006/relationships/notesMaster" Target="/ppt/notesMasters/notesMaster1.xml" Id="R0591ed0e544a48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ProofLend turns a source-chain event into lending eligibility that a Creditcoin contract verifies for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https://buidl.creditcoin.org/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design choice: the off-chain component gathers public material, while the destination contract enforces trust.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https://docs.creditcoin.org/usc/overview/usc-architecture-overview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user flow. Mention the attestation wait, automatic retries, network switching, and public explorer links.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Project source: https://github.com/Elvino03/prooflend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Architecture: the source emits a narrow event. Attestcoin anchors source-chain state. The proof service retrieves public proof material. The Creditcoin contract verifies and interprets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https://docs.creditcoin.org/usc/dapp-builder-infrastructure/dapp-design-patterns</a:t>
            </a:r>
          </a:p>
          <a:p xmlns:a="http://schemas.openxmlformats.org/drawingml/2006/main">
            <a:r>
              <a:t>https://docs.creditcoin.org/usc/creditcoin-oracle-subsystems/proving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that Attestcoin is a required execution input. The proof builder cannot directly write eligibility. The contract enforces source validation and replay protection.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https://docs.creditcoin.org/usc/dapp-builder-infrastructure/universal-smart-contracts</a:t>
            </a:r>
          </a:p>
          <a:p xmlns:a="http://schemas.openxmlformats.org/drawingml/2006/main">
            <a:r>
              <a:t>Project contract: contracts/src/ProofLendEligibility.sol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both explorer links during the demo and show successful status plus emitted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https://sepolia.etherscan.io/tx/0xd5ba4fa9041a7de72bcbee6ca12ef32c8e188c4ef828564469989a69ad820345</a:t>
            </a:r>
          </a:p>
          <a:p xmlns:a="http://schemas.openxmlformats.org/drawingml/2006/main">
            <a:r>
              <a:t>https://creditcoin-testnet.blockscout.com/tx/0xdec3d335a1d178fa92e05af5818b607669fa8d9de0c1b4fc6d6e2626e5a13096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keeps source logic narrow and destination checks explicit. Wallets sign both transactions, and the application does not custody funds or credentials.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https://github.com/Elvino03/prooflend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concrete next product step and direct judges to the live application, repository, and public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https://prooflend.vercel.app/</a:t>
            </a:r>
          </a:p>
          <a:p xmlns:a="http://schemas.openxmlformats.org/drawingml/2006/main">
            <a:r>
              <a:t>https://github.com/Elvino03/prooflend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e2923aa4e48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f0791d2a5840e6" /><Relationship Type="http://schemas.openxmlformats.org/officeDocument/2006/relationships/slideLayout" Target="/ppt/slideLayouts/slideLayout1.xml" Id="Ra6a262db9a1f42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a262db9a1f42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roofLend">
      <a:dk1>
        <a:srgbClr val="07110E"/>
      </a:dk1>
      <a:lt1>
        <a:srgbClr val="F3F7EF"/>
      </a:lt1>
      <a:dk2>
        <a:srgbClr val="17352C"/>
      </a:dk2>
      <a:lt2>
        <a:srgbClr val="E2EBDD"/>
      </a:lt2>
      <a:accent1>
        <a:srgbClr val="D8FE60"/>
      </a:accent1>
      <a:accent2>
        <a:srgbClr val="75A48B"/>
      </a:accent2>
      <a:accent3>
        <a:srgbClr val="F2D78D"/>
      </a:accent3>
      <a:accent4>
        <a:srgbClr val="EF8F83"/>
      </a:accent4>
      <a:accent5>
        <a:srgbClr val="8B7CF6"/>
      </a:accent5>
      <a:accent6>
        <a:srgbClr val="67C4D4"/>
      </a:accent6>
      <a:hlink>
        <a:srgbClr val="D8FE60"/>
      </a:hlink>
      <a:folHlink>
        <a:srgbClr val="A7C84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ofLen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5465a28a1497c" /><Relationship Type="http://schemas.openxmlformats.org/officeDocument/2006/relationships/image" Target="/ppt/media/image.png" Id="R95109a82afd14d76" /><Relationship Type="http://schemas.openxmlformats.org/officeDocument/2006/relationships/notesSlide" Target="/ppt/notesSlides/notesSlide1.xml" Id="R3c2ab15e07b34e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45f11653d4ea3" /><Relationship Type="http://schemas.openxmlformats.org/officeDocument/2006/relationships/notesSlide" Target="/ppt/notesSlides/notesSlide2.xml" Id="Racbc8aef4d6249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e7bfaa1d64488" /><Relationship Type="http://schemas.openxmlformats.org/officeDocument/2006/relationships/image" Target="/ppt/media/image2.png" Id="R616f4b717e804059" /><Relationship Type="http://schemas.openxmlformats.org/officeDocument/2006/relationships/notesSlide" Target="/ppt/notesSlides/notesSlide3.xml" Id="R9a2204f46b1641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0815411314a29" /><Relationship Type="http://schemas.openxmlformats.org/officeDocument/2006/relationships/notesSlide" Target="/ppt/notesSlides/notesSlide4.xml" Id="R590d92a5b4c441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b16abc81d4366" /><Relationship Type="http://schemas.openxmlformats.org/officeDocument/2006/relationships/notesSlide" Target="/ppt/notesSlides/notesSlide5.xml" Id="Rf93eab37284f4e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95ad9720346af" /><Relationship Type="http://schemas.openxmlformats.org/officeDocument/2006/relationships/notesSlide" Target="/ppt/notesSlides/notesSlide6.xml" Id="Rbead16817ba943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8eb359d68405a" /><Relationship Type="http://schemas.openxmlformats.org/officeDocument/2006/relationships/notesSlide" Target="/ppt/notesSlides/notesSlide7.xml" Id="Rb1e6d154ee354b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bbe20b98a4d68" /><Relationship Type="http://schemas.openxmlformats.org/officeDocument/2006/relationships/notesSlide" Target="/ppt/notesSlides/notesSlide8.xml" Id="R8d0695f8ac1a4c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91042-1F81-4C73-A5E3-AD9C41D2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E60"/>
          </a:solidFill>
          <a:ln xmlns:a="http://schemas.openxmlformats.org/drawingml/2006/main" w="0">
            <a:noFill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09a82afd14d76"/>
          <a:stretch xmlns:a="http://schemas.openxmlformats.org/drawingml/2006/main"/>
        </p:blipFill>
        <p:spPr>
          <a:xfrm xmlns:a="http://schemas.openxmlformats.org/drawingml/2006/main">
            <a:off x="666750" y="87630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0768F-C6B5-4301-A741-F3FFA6BD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790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50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ProofLend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E6CD8-EDBD-4940-89B3-FC910F12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8D7C8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C8D7C8"/>
                </a:solidFill>
                <a:latin typeface="Segoe UI"/>
                <a:ea typeface="Segoe UI"/>
                <a:cs typeface="Segoe UI"/>
              </a:rPr>
              <a:t>Cross-chain lending eligibility verified on Creditcoin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2517F-D946-43ED-BC3C-0531D780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A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4EAD7-1A13-469F-A36E-3B634213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BUIDL CTC 2026 Fall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0273A-0E93-4886-B733-6E30E7A9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DeFi track  /  Solo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836C0-792A-4522-9F77-6355865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76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prooflend.vercel.app</a:t>
            </a:r>
          </a:p>
        </p:txBody>
      </p:sp>
    </p:spTree>
    <p:extLst>
      <p:ext uri="{BB962C8B-B14F-4D97-AF65-F5344CB8AC3E}">
        <p14:creationId xmlns:p14="http://schemas.microsoft.com/office/powerpoint/2010/main" val="696718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181DA-41C0-4944-B57C-C1D401D2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E6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EE8A9-605D-4E93-882F-225E1930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9E04A-A080-4530-9BF3-9245E2FB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33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CF3DF-6E0D-49BC-B3CF-6557F328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Cross-chain lending still depends on trusted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4D213-8754-4119-878C-17817664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8D7C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C8D7C8"/>
                </a:solidFill>
                <a:latin typeface="Segoe UI"/>
                <a:ea typeface="Segoe UI"/>
                <a:cs typeface="Segoe UI"/>
              </a:rPr>
              <a:t>A destination contract cannot inspect Ethereum by itself. Many applications fill that gap with a private indexer or backend assertion.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97802-5F2B-42FB-9A20-C8408A01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476250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142F27"/>
          </a:solidFill>
          <a:ln xmlns:a="http://schemas.openxmlformats.org/drawingml/2006/main" w="9525">
            <a:solidFill>
              <a:srgbClr val="395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F65F5-2C3C-4F81-A06D-CA3F54D3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Backend assertion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99619-5594-460C-A5D8-65E8D9DB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“This address completed the required action.”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4259B-3DC5-4E30-8305-56B67C9C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23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D78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2D78D"/>
                </a:solidFill>
                <a:latin typeface="Segoe UI"/>
                <a:ea typeface="Segoe UI"/>
                <a:cs typeface="Segoe UI"/>
              </a:rPr>
              <a:t>The lending contract must trust the reporter.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167AC-292A-4CDD-9E9C-4F855275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52725"/>
            <a:ext cx="567690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1C4035"/>
          </a:solidFill>
          <a:ln xmlns:a="http://schemas.openxmlformats.org/drawingml/2006/main" w="9525">
            <a:solidFill>
              <a:srgbClr val="D8FE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073E6-15E7-460E-B431-7FBA8A5E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Proof verified on Creditcoin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E67C9-056C-4CC6-95E6-5D8972FC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8D7C8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C8D7C8"/>
                </a:solidFill>
                <a:latin typeface="Segoe UI"/>
                <a:ea typeface="Segoe UI"/>
                <a:cs typeface="Segoe UI"/>
              </a:rPr>
              <a:t>Transaction bytes plus Merkle and continuity proofs reach the contract.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91FA8-C5C1-4F39-8A9C-424C2136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005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Only verified source data can change eligibility.</a:t>
            </a:r>
          </a:p>
        </p:txBody>
      </p:sp>
    </p:spTree>
    <p:extLst>
      <p:ext uri="{BB962C8B-B14F-4D97-AF65-F5344CB8AC3E}">
        <p14:creationId xmlns:p14="http://schemas.microsoft.com/office/powerpoint/2010/main" val="167508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1D1E4-E984-4B34-A915-BDDF5BDA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E6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F06B4-5A24-4655-83D5-71AEF60F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445C5-A95A-4433-967B-46951169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33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A631D-FA87-46B5-BB3A-7C7E0ACE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A two-transaction path from signal to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B88E5-329A-4649-9425-9FA49E9F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487680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142F27"/>
          </a:solidFill>
          <a:ln xmlns:a="http://schemas.openxmlformats.org/drawingml/2006/main" w="9525">
            <a:solidFill>
              <a:srgbClr val="395A4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f4b717e804059"/>
          <a:srcRect xmlns:a="http://schemas.openxmlformats.org/drawingml/2006/main" l="0" t="18027" r="0" b="18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524000"/>
            <a:ext cx="4686300" cy="4572000"/>
          </a:xfrm>
          <a:prstGeom xmlns:a="http://schemas.openxmlformats.org/drawingml/2006/main" prst="roundRect">
            <a:avLst>
              <a:gd name="adj" fmla="val 291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ED226-B41C-44D2-8232-EFBC2BF2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2C63F-A04B-4516-BF31-289DF152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287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Create the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B4CDC-C691-4E7F-BDFC-56AB0CE9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47875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The wallet emits EligibilityRequested on Sepolia.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49105-EBA5-4843-8E89-93605867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87249-4F2D-4331-A775-8C01E018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813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Build the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4DE94-3213-4139-879F-338D069D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0425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ProofLend waits for attestation and obtains proof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1BE1D-7EE4-433C-B09E-1F87678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19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BD93F-2665-46E3-BEFA-D1E1ED21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338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Record eligibility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CFABB-E9EF-4B52-81E0-75269DBC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52975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The wallet submits the proof to Creditcoin.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0DCCC-3852-4376-82C1-3E58D5DC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435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The wallet signs. ProofLend never handles private keys.</a:t>
            </a:r>
          </a:p>
        </p:txBody>
      </p:sp>
    </p:spTree>
    <p:extLst>
      <p:ext uri="{BB962C8B-B14F-4D97-AF65-F5344CB8AC3E}">
        <p14:creationId xmlns:p14="http://schemas.microsoft.com/office/powerpoint/2010/main" val="568947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24A28C-569D-47AE-996F-CF348CFF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E6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B0883-CBB5-4550-94A4-72AF4B16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F70D1-3E2E-4F4E-B465-10DDBB79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33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9083F-75D2-40AE-BCC7-CEC13A92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ProofLend verification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C9C02-4578-4BBA-A3F7-41A8DC0C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952625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142F27"/>
          </a:solidFill>
          <a:ln xmlns:a="http://schemas.openxmlformats.org/drawingml/2006/main" w="9525">
            <a:solidFill>
              <a:srgbClr val="395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B560E-FB48-4DA0-992A-6DB19AAF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533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User wallet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5E6DC-D087-4C4D-B8E7-6F5E5DFA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5335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Signs source and destination transactions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9C291-0B7E-4071-8919-17AA8921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19300"/>
            <a:ext cx="2333625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142F27"/>
          </a:solidFill>
          <a:ln xmlns:a="http://schemas.openxmlformats.org/drawingml/2006/main" w="9525">
            <a:solidFill>
              <a:srgbClr val="395A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04AFD-8F53-4DBB-BFDA-2274D606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1914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Sepolia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6A85C-1240-4032-AA77-0F231695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71750"/>
            <a:ext cx="19145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EligibilityRequested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C6403-1BB2-448B-A05E-4AD07468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19300"/>
            <a:ext cx="25717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142F27"/>
          </a:solidFill>
          <a:ln xmlns:a="http://schemas.openxmlformats.org/drawingml/2006/main" w="9525">
            <a:solidFill>
              <a:srgbClr val="395A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723AA-D3B1-4AE0-9FBF-6C777ECF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098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Attestcoin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0CC2E-453A-47A5-ACC8-F921A2E4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2152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Transaction bytes</a:t>
            </a:r>
          </a:p>
          <a:p xmlns:a="http://schemas.openxmlformats.org/drawingml/2006/main">
            <a:pPr>
              <a:defRPr sz="1275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Merkle + continuity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1C255-043F-430F-AC98-5E5DA117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19300"/>
            <a:ext cx="297180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1C4035"/>
          </a:solidFill>
          <a:ln xmlns:a="http://schemas.openxmlformats.org/drawingml/2006/main" w="9525">
            <a:solidFill>
              <a:srgbClr val="D8FE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445E4-CEBE-49F1-BDC3-7CB2EF7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Creditcoin 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879E6-C02A-4C7C-8323-932A428D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2552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Verifies, decodes, records</a:t>
            </a:r>
          </a:p>
        </p:txBody>
      </p:sp>
      <p:cxnSp>
        <p:nvCxnSpPr>
          <p:cNvPr id="4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66975" y="2709863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8FE60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238750" y="2709863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8FE60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48650" y="2709863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8FE60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28F83C-67D9-469B-BCAB-A10D053C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86275"/>
            <a:ext cx="2333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142F27"/>
          </a:solidFill>
          <a:ln xmlns:a="http://schemas.openxmlformats.org/drawingml/2006/main" w="9525">
            <a:solidFill>
              <a:srgbClr val="395A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16366-9B03-4400-B5D4-B5672AD5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676775"/>
            <a:ext cx="1914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Attestors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8B1F2C-5F71-4128-A21A-99F4EF69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038725"/>
            <a:ext cx="1914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Commit Sepolia block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2E63E-889D-4FFD-AF57-3BE17A0A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95775"/>
            <a:ext cx="257175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42F27"/>
          </a:solidFill>
          <a:ln xmlns:a="http://schemas.openxmlformats.org/drawingml/2006/main" w="9525">
            <a:solidFill>
              <a:srgbClr val="395A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C163F1-247A-4C6E-A0A2-07C4F632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86275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Proof 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37F0F7-45B9-41E3-BF2D-DED89F18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48225"/>
            <a:ext cx="2152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Checks attested height</a:t>
            </a:r>
          </a:p>
          <a:p xmlns:a="http://schemas.openxmlformats.org/drawingml/2006/main">
            <a:pPr>
              <a:defRPr sz="1275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Uses official SDK</a:t>
            </a:r>
          </a:p>
          <a:p xmlns:a="http://schemas.openxmlformats.org/drawingml/2006/main">
            <a:pPr>
              <a:defRPr sz="1275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Requests Proof Builder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696130-69A1-4A2A-8543-2CA7446B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95775"/>
            <a:ext cx="297180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C4035"/>
          </a:solidFill>
          <a:ln xmlns:a="http://schemas.openxmlformats.org/drawingml/2006/main" w="9525">
            <a:solidFill>
              <a:srgbClr val="D8FE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8F51B2-6BD8-4BFE-8E04-B6F521DD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86275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Native 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0AFDE7-4005-428E-BA3F-19ABEA53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48225"/>
            <a:ext cx="2552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Verifier 0x0FD2</a:t>
            </a:r>
          </a:p>
          <a:p xmlns:a="http://schemas.openxmlformats.org/drawingml/2006/main">
            <a:pPr>
              <a:defRPr sz="1275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Approved event source</a:t>
            </a:r>
          </a:p>
          <a:p xmlns:a="http://schemas.openxmlformats.org/drawingml/2006/main">
            <a:pPr>
              <a:defRPr sz="1275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Replay protection</a:t>
            </a:r>
          </a:p>
        </p:txBody>
      </p:sp>
      <p:cxnSp>
        <p:nvCxnSpPr>
          <p:cNvPr id="60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238750" y="50815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8FE60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248650" y="50815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8FE60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279520-636F-40D1-8B86-A4A37E0F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State changes only after proof and event validation succeed.</a:t>
            </a:r>
          </a:p>
        </p:txBody>
      </p:sp>
    </p:spTree>
    <p:extLst>
      <p:ext uri="{BB962C8B-B14F-4D97-AF65-F5344CB8AC3E}">
        <p14:creationId xmlns:p14="http://schemas.microsoft.com/office/powerpoint/2010/main" val="308775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474A44-1F9B-4D0B-81C2-CB85720F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E6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5A1DB-E43B-45BE-BA65-FB4FB4E7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CONTRACT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4EFA8-456C-4827-A930-98CDD663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33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882DF-53FD-44FD-A344-9338DF29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The destination contract controls the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FFA38-B686-4F6F-A2D2-451CBC37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BF081-3DEC-4D99-AD1C-4E587A36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26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Verify inclusion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120F5-9E6B-4C45-9278-DA785A5F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19325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0x0FD2 checks the Merkle and continuity proofs.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9CA88-7EF1-4D97-933B-168C38CF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A4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CAA1B-FBBA-4BA6-8A1F-DC67AACA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610C1-07DF-4AA4-B813-CD1625B8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526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Validate the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E1120-97F6-46A8-9F89-A6AE2DF0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The receipt must contain the expected signature from the configured source contract.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474D0-D742-43AC-9D48-22DBC681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480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A4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3D29C-7EBF-4C55-BFF4-7CCE5CB0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1DEDD-1E6E-4129-95CB-B39914BC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052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Decode the applicant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37ABE-FED0-4057-BEA8-1AE85BB5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EvmV1Decoder extracts the address and request ID from the proven receipt.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A918B-5383-4247-AE76-796E9771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052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5E758-19F5-4704-817B-EDD3065A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052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Prevent replay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695A9-56BE-4227-9599-D93A1AAE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processedQueries rejects a second use of the same query 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60FFD-29C7-43F9-9A47-2544C597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D8FE6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61A3D-622B-4C4F-8881-E58938DE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72150"/>
            <a:ext cx="1042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1E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0241E"/>
                </a:solidFill>
                <a:latin typeface="Segoe UI"/>
                <a:ea typeface="Segoe UI"/>
                <a:cs typeface="Segoe UI"/>
              </a:rPr>
              <a:t>verifiedRequestId[applicant] changes only after all four checks pass</a:t>
            </a:r>
          </a:p>
        </p:txBody>
      </p:sp>
    </p:spTree>
    <p:extLst>
      <p:ext uri="{BB962C8B-B14F-4D97-AF65-F5344CB8AC3E}">
        <p14:creationId xmlns:p14="http://schemas.microsoft.com/office/powerpoint/2010/main" val="1654998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BB246-31B1-46F7-8C53-F23F616B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E6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2F820-8F20-4560-A406-DB3F1677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PUBLIC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0AE8A-7828-4004-85E8-D4456454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33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994A3-037D-4A4D-BF03-ABAB775C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 Public testnet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6C49C-0CE3-4953-9BB7-73756507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SEPOLIA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C5881-703F-4CDB-A0CF-6030B82F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EligibilityRequested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27A46-42EA-4CA3-92D5-CDAA26F6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8D7C8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8D7C8"/>
                </a:solidFill>
                <a:latin typeface="Segoe UI"/>
                <a:ea typeface="Segoe UI"/>
                <a:cs typeface="Segoe UI"/>
              </a:rPr>
              <a:t>0xd5ba4fa9…ad820345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495F1-5146-4CF9-B00A-547A6741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Request ID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66633-4620-47C4-9A71-ECD3B3E5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62125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A4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E08C8-D5D5-426C-9258-3214CCA9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CREDITCOIN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DD820-6A1C-459C-96C1-61A7602C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EligibilityVerified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2C3B0-8A2D-4D90-B30A-9E6B8760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8D7C8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8D7C8"/>
                </a:solidFill>
                <a:latin typeface="Segoe UI"/>
                <a:ea typeface="Segoe UI"/>
                <a:cs typeface="Segoe UI"/>
              </a:rPr>
              <a:t>0xdec3d335…e5a13096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47F2B-FF67-400F-83FB-6837EBE5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Query ID 0x3170fd6f…4b47ba22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28423-FA59-4E04-99C7-CA2CD75E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A4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E95EC-88F2-4EFC-AFD5-C69A1F02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Applicant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4D563-9727-48B4-BE0A-E8092DFC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0xFC99c75De3188eB27f5331E24c51F4B68F1F4286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D98D1-D291-4448-9E22-82BE0D18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Both deployed contract addresses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121DE6-BC22-4B77-8409-ADF5E74F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8D7C8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8D7C8"/>
                </a:solidFill>
                <a:latin typeface="Segoe UI"/>
                <a:ea typeface="Segoe UI"/>
                <a:cs typeface="Segoe UI"/>
              </a:rPr>
              <a:t>0xa91ebc1dc12aa9c43e7acc2ac4227309bdd7188f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795E5-8AAB-4D41-9AF5-B503F161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435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0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D78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2D78D"/>
                </a:solidFill>
                <a:latin typeface="Segoe UI"/>
                <a:ea typeface="Segoe UI"/>
                <a:cs typeface="Segoe UI"/>
              </a:rPr>
              <a:t>Same address, separate bytecode on separate networks</a:t>
            </a:r>
          </a:p>
        </p:txBody>
      </p:sp>
    </p:spTree>
    <p:extLst>
      <p:ext uri="{BB962C8B-B14F-4D97-AF65-F5344CB8AC3E}">
        <p14:creationId xmlns:p14="http://schemas.microsoft.com/office/powerpoint/2010/main" val="163497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58D41-520C-4768-A316-B6ABC5D9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E6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C5E89-1D78-490D-A490-6FECF5E9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8A221-5E2C-44FC-AF76-2A3E240E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33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A75BB-DBBB-4667-B88C-F08D818C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A small stack with a clear trust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714C7-BD56-4556-BBF6-98F7E4D5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F27"/>
          </a:solidFill>
          <a:ln xmlns:a="http://schemas.openxmlformats.org/drawingml/2006/main" w="9525">
            <a:solidFill>
              <a:srgbClr val="395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E246F-287E-4C72-9418-198ED7BC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06C00-D2A7-401A-9E13-D929DD8F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573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8D7C8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C8D7C8"/>
                </a:solidFill>
                <a:latin typeface="Segoe UI"/>
                <a:ea typeface="Segoe UI"/>
                <a:cs typeface="Segoe UI"/>
              </a:rPr>
              <a:t>React · Vite · ethers.js · EIP-6963 wallet discovery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1BD1E-982A-437F-B707-5230CD3B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0972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F27"/>
          </a:solidFill>
          <a:ln xmlns:a="http://schemas.openxmlformats.org/drawingml/2006/main" w="9525">
            <a:solidFill>
              <a:srgbClr val="395A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D93A5-1CAC-4DF7-B3A5-68429F2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79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Proof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CB78F-9845-4EDC-B964-524C088F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479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8D7C8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C8D7C8"/>
                </a:solidFill>
                <a:latin typeface="Segoe UI"/>
                <a:ea typeface="Segoe UI"/>
                <a:cs typeface="Segoe UI"/>
              </a:rPr>
              <a:t>Vercel Function · @gluwa/usc-sdk · Proof Builder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EE389-759F-4B64-AF53-3D2FE332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972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F27"/>
          </a:solidFill>
          <a:ln xmlns:a="http://schemas.openxmlformats.org/drawingml/2006/main" w="9525">
            <a:solidFill>
              <a:srgbClr val="395A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022EF-A908-4B1D-B382-6D59291E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Source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FBBD0-30B5-4E4F-832E-BB0BAE13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385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8D7C8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C8D7C8"/>
                </a:solidFill>
                <a:latin typeface="Segoe UI"/>
                <a:ea typeface="Segoe UI"/>
                <a:cs typeface="Segoe UI"/>
              </a:rPr>
              <a:t>ProofLendSignal on Ethereum Sepolia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DD33F-09B9-4D9C-AC42-257B6B61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C4035"/>
          </a:solidFill>
          <a:ln xmlns:a="http://schemas.openxmlformats.org/drawingml/2006/main" w="9525">
            <a:solidFill>
              <a:srgbClr val="D8FE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10158-9466-4A17-B2A8-F5BFBF0A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Execution 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9D76F-87FA-48EF-AD22-8218B04C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291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8D7C8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C8D7C8"/>
                </a:solidFill>
                <a:latin typeface="Segoe UI"/>
                <a:ea typeface="Segoe UI"/>
                <a:cs typeface="Segoe UI"/>
              </a:rPr>
              <a:t>ProofLendEligibility · EvmV1Decoder · verifier precompile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4A5D0-7E74-407D-8E47-84EA0876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2 contracts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23BAF-18E7-4123-B609-82649861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886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2 public testnets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1063B-6E4F-4158-9D63-B4ADDE5B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864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0 private keys handled by the app</a:t>
            </a:r>
          </a:p>
        </p:txBody>
      </p:sp>
    </p:spTree>
    <p:extLst>
      <p:ext uri="{BB962C8B-B14F-4D97-AF65-F5344CB8AC3E}">
        <p14:creationId xmlns:p14="http://schemas.microsoft.com/office/powerpoint/2010/main" val="489893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10808-B4E9-4730-AC8B-F1961493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E6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43CC7-1394-4F87-BB8A-9DDDC5A6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NEXT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902D5-01C8-4AD9-9FFA-8E31366A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33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D7A8C-2D53-496F-B3CA-3F0AF940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ProofLend can verify real lending signals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91CD4-5800-4D5C-A2D1-766F6C25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408CC-FAC5-4E25-B21C-35630058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34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A simple eligibility event proves the complete Attestcoin path end to 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BC4DC-B5F1-4AD1-BCF6-F5A5D233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2BE1A-CD70-4EF9-B3CD-7EA82663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02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EE32A-B1D1-48BA-9738-8560389D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0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D7C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C8D7C8"/>
                </a:solidFill>
                <a:latin typeface="Segoe UI"/>
                <a:ea typeface="Segoe UI"/>
                <a:cs typeface="Segoe UI"/>
              </a:rPr>
              <a:t>Repayment and collateral events as verified 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C130D-6CBC-4A62-8B84-D562C39F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813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91F01-BDD9-426F-B0B2-A1ADBC66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337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5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8D7C8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8D7C8"/>
                </a:solidFill>
                <a:latin typeface="Segoe UI"/>
                <a:ea typeface="Segoe UI"/>
                <a:cs typeface="Segoe UI"/>
              </a:rPr>
              <a:t>Policy contracts that combine several proven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D97D2-2FE7-49E8-A106-FD879A98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62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FE6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D8FE6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54AB7-9BD8-4FE7-8BA1-4FBB331A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147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8D7C8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8D7C8"/>
                </a:solidFill>
                <a:latin typeface="Segoe UI"/>
                <a:ea typeface="Segoe UI"/>
                <a:cs typeface="Segoe UI"/>
              </a:rPr>
              <a:t>Relayed and batched proofs for a simpler user 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3649F-6E4A-46E0-B167-583734DE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A4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7F168-1329-4B4F-ABC9-8ADDBAFC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Live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228E6-DE64-4BD1-9D9B-2382E1F8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prooflend.vercel.app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8CAD1-88D8-4B28-8A1F-A00349AE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816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2AA9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92AA98"/>
                </a:solidFill>
                <a:latin typeface="Segoe UI"/>
                <a:ea typeface="Segoe UI"/>
                <a:cs typeface="Segoe UI"/>
              </a:rPr>
              <a:t>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71A57-AD90-4069-BA26-7845F6EA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24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3F7E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3F7EF"/>
                </a:solidFill>
                <a:latin typeface="Segoe UI"/>
                <a:ea typeface="Segoe UI"/>
                <a:cs typeface="Segoe UI"/>
              </a:rPr>
              <a:t>github.com/Elvino03/prooflend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599C7-DB61-4528-A100-D2597528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D78D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2D78D"/>
                </a:solidFill>
                <a:latin typeface="Segoe UI"/>
                <a:ea typeface="Segoe UI"/>
                <a:cs typeface="Segoe UI"/>
              </a:rPr>
              <a:t>Testnet prototype. Eligibility is not a real credit score or loan offer.</a:t>
            </a:r>
          </a:p>
        </p:txBody>
      </p:sp>
    </p:spTree>
    <p:extLst>
      <p:ext uri="{BB962C8B-B14F-4D97-AF65-F5344CB8AC3E}">
        <p14:creationId xmlns:p14="http://schemas.microsoft.com/office/powerpoint/2010/main" val="270194953"/>
      </p:ext>
    </p:extLst>
  </p:cSld>
</p:sld>
</file>

<file path=ppt/theme/theme1.xml><?xml version="1.0" encoding="utf-8"?>
<a:theme xmlns:a="http://schemas.openxmlformats.org/drawingml/2006/main" name="ChatGPT">
  <a:themeElements>
    <a:clrScheme name="ProofLend">
      <a:dk1>
        <a:srgbClr val="07110E"/>
      </a:dk1>
      <a:lt1>
        <a:srgbClr val="F3F7EF"/>
      </a:lt1>
      <a:dk2>
        <a:srgbClr val="17352C"/>
      </a:dk2>
      <a:lt2>
        <a:srgbClr val="E2EBDD"/>
      </a:lt2>
      <a:accent1>
        <a:srgbClr val="D8FE60"/>
      </a:accent1>
      <a:accent2>
        <a:srgbClr val="75A48B"/>
      </a:accent2>
      <a:accent3>
        <a:srgbClr val="F2D78D"/>
      </a:accent3>
      <a:accent4>
        <a:srgbClr val="EF8F83"/>
      </a:accent4>
      <a:accent5>
        <a:srgbClr val="8B7CF6"/>
      </a:accent5>
      <a:accent6>
        <a:srgbClr val="67C4D4"/>
      </a:accent6>
      <a:hlink>
        <a:srgbClr val="D8FE60"/>
      </a:hlink>
      <a:folHlink>
        <a:srgbClr val="A7C84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ofLen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2026-09-12T00:51:01.6900000Z</dcterms:created>
  <dcterms:modified xsi:type="dcterms:W3CDTF">2026-09-12T00:51:01.6910000Z</dcterms:modified>
</coreProperties>
</file>