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82fe2f38e984995" /><Relationship Type="http://schemas.openxmlformats.org/officeDocument/2006/relationships/extended-properties" Target="/docProps/app.xml" Id="R737ca4f941cd442f" /><Relationship Type="http://schemas.openxmlformats.org/officeDocument/2006/relationships/officeDocument" Target="/ppt/presentation.xml" Id="R923d945609a4442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08eaa366389439f"/>
  </p:sldMasterIdLst>
  <p:notesMasterIdLst>
    <p:notesMasterId xmlns:r="http://schemas.openxmlformats.org/officeDocument/2006/relationships" r:id="Rc7c678d595574e36"/>
  </p:notesMasterIdLst>
  <p:sldIdLst>
    <p:sldId xmlns:r="http://schemas.openxmlformats.org/officeDocument/2006/relationships" id="256" r:id="R29c45b542be74431"/>
    <p:sldId xmlns:r="http://schemas.openxmlformats.org/officeDocument/2006/relationships" id="257" r:id="R3f8aa4fc99a44574"/>
    <p:sldId xmlns:r="http://schemas.openxmlformats.org/officeDocument/2006/relationships" id="258" r:id="R13e6082692f340fe"/>
    <p:sldId xmlns:r="http://schemas.openxmlformats.org/officeDocument/2006/relationships" id="259" r:id="R51accfe8acd64e41"/>
    <p:sldId xmlns:r="http://schemas.openxmlformats.org/officeDocument/2006/relationships" id="260" r:id="R0fea6886a03747e1"/>
    <p:sldId xmlns:r="http://schemas.openxmlformats.org/officeDocument/2006/relationships" id="261" r:id="R5736ee430f4347b6"/>
    <p:sldId xmlns:r="http://schemas.openxmlformats.org/officeDocument/2006/relationships" id="262" r:id="R5f0b993b133c45eb"/>
    <p:sldId xmlns:r="http://schemas.openxmlformats.org/officeDocument/2006/relationships" id="263" r:id="R5401b358cf88461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31991b71c1042da" /><Relationship Type="http://schemas.openxmlformats.org/officeDocument/2006/relationships/slideMaster" Target="/ppt/slideMasters/slideMaster1.xml" Id="Rc08eaa366389439f" /><Relationship Type="http://schemas.openxmlformats.org/officeDocument/2006/relationships/notesMaster" Target="/ppt/notesMasters/notesMaster1.xml" Id="Rc7c678d595574e36" /><Relationship Type="http://schemas.openxmlformats.org/officeDocument/2006/relationships/presProps" Target="/ppt/presProps.xml" Id="Raea81a38964a4dbb" /><Relationship Type="http://schemas.openxmlformats.org/officeDocument/2006/relationships/tableStyles" Target="/ppt/tableStyles.xml" Id="Ra650d8b46de346b7" /><Relationship Type="http://schemas.openxmlformats.org/officeDocument/2006/relationships/slide" Target="/ppt/slides/slide1.xml" Id="R29c45b542be74431" /><Relationship Type="http://schemas.openxmlformats.org/officeDocument/2006/relationships/slide" Target="/ppt/slides/slide2.xml" Id="R3f8aa4fc99a44574" /><Relationship Type="http://schemas.openxmlformats.org/officeDocument/2006/relationships/slide" Target="/ppt/slides/slide3.xml" Id="R13e6082692f340fe" /><Relationship Type="http://schemas.openxmlformats.org/officeDocument/2006/relationships/slide" Target="/ppt/slides/slide4.xml" Id="R51accfe8acd64e41" /><Relationship Type="http://schemas.openxmlformats.org/officeDocument/2006/relationships/slide" Target="/ppt/slides/slide5.xml" Id="R0fea6886a03747e1" /><Relationship Type="http://schemas.openxmlformats.org/officeDocument/2006/relationships/slide" Target="/ppt/slides/slide6.xml" Id="R5736ee430f4347b6" /><Relationship Type="http://schemas.openxmlformats.org/officeDocument/2006/relationships/slide" Target="/ppt/slides/slide7.xml" Id="R5f0b993b133c45eb" /><Relationship Type="http://schemas.openxmlformats.org/officeDocument/2006/relationships/slide" Target="/ppt/slides/slide8.xml" Id="R5401b358cf8846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458b499084e4ce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04506460dc94ab6" /><Relationship Type="http://schemas.openxmlformats.org/officeDocument/2006/relationships/notesMaster" Target="/ppt/notesMasters/notesMaster1.xml" Id="R1f435bfbd2ce4ff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8b3f25ddc924206" /><Relationship Type="http://schemas.openxmlformats.org/officeDocument/2006/relationships/notesMaster" Target="/ppt/notesMasters/notesMaster1.xml" Id="R9493390ad1414e7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abdc3e626eb497e" /><Relationship Type="http://schemas.openxmlformats.org/officeDocument/2006/relationships/notesMaster" Target="/ppt/notesMasters/notesMaster1.xml" Id="R360313e63dd44f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6816bd9e2c04e43" /><Relationship Type="http://schemas.openxmlformats.org/officeDocument/2006/relationships/notesMaster" Target="/ppt/notesMasters/notesMaster1.xml" Id="Rb483a0c132cd45d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f20b8b688484a5f" /><Relationship Type="http://schemas.openxmlformats.org/officeDocument/2006/relationships/notesMaster" Target="/ppt/notesMasters/notesMaster1.xml" Id="Rfc4ea2aa5d274d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86b3f5d41684996" /><Relationship Type="http://schemas.openxmlformats.org/officeDocument/2006/relationships/notesMaster" Target="/ppt/notesMasters/notesMaster1.xml" Id="Re94d7940f75d47b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35d583d7c074605" /><Relationship Type="http://schemas.openxmlformats.org/officeDocument/2006/relationships/notesMaster" Target="/ppt/notesMasters/notesMaster1.xml" Id="R8f7bdf73cf9f4c2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06ca8f9a2b442d1" /><Relationship Type="http://schemas.openxmlformats.org/officeDocument/2006/relationships/notesMaster" Target="/ppt/notesMasters/notesMaster1.xml" Id="R11dfa889ea5a486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ProofLend turns a source-chain event into lending eligibility that a Creditcoin contract verifies for itself.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https://buidl.creditcoin.org/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design choice: the off-chain component gathers public material, while the destination contract enforces trust.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https://docs.creditcoin.org/usc/overview/usc-architecture-overview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Walk through the user flow. Mention the attestation wait, automatic retries, network switching, and public explorer links.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Project source: 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Architecture: the source emits a narrow event. Attestcoin anchors source-chain state. The proof service retrieves public proof material. The Creditcoin contract verifies and interprets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https://docs.creditcoin.org/usc/dapp-builder-infrastructure/dapp-design-patterns</a:t>
            </a:r>
          </a:p>
          <a:p xmlns:a="http://schemas.openxmlformats.org/drawingml/2006/main">
            <a:r>
              <a:t>https://docs.creditcoin.org/usc/creditcoin-oracle-subsystems/proving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Highlight that Attestcoin is a required execution input. The proof builder cannot directly write eligibility. The contract enforces source validation and replay protection.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https://docs.creditcoin.org/usc/dapp-builder-infrastructure/universal-smart-contracts</a:t>
            </a:r>
          </a:p>
          <a:p xmlns:a="http://schemas.openxmlformats.org/drawingml/2006/main">
            <a:r>
              <a:t>Project contract: contracts/src/ProofLendEligibility.sol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both explorer links during the demo and show successful status plus emitted events.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https://sepolia.etherscan.io/tx/0xd5ba4fa9041a7de72bcbee6ca12ef32c8e188c4ef828564469989a69ad820345</a:t>
            </a:r>
          </a:p>
          <a:p xmlns:a="http://schemas.openxmlformats.org/drawingml/2006/main">
            <a:r>
              <a:t>https://creditcoin-testnet.blockscout.com/tx/0xdec3d335a1d178fa92e05af5818b607669fa8d9de0c1b4fc6d6e2626e5a13096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architecture keeps source logic narrow and destination checks explicit. Wallets sign both transactions, and the application does not custody funds or credentials.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the concrete next product step and direct judges to the live application, repository, and public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Sources:</a:t>
            </a:r>
          </a:p>
          <a:p xmlns:a="http://schemas.openxmlformats.org/drawingml/2006/main">
            <a:r>
              <a:t>https://prooflend.vercel.app/</a:t>
            </a:r>
          </a:p>
          <a:p xmlns:a="http://schemas.openxmlformats.org/drawingml/2006/main">
            <a:r>
              <a:t>https://github.com/Elvino03/prooflend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359945756e4b3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09e61a0e5394eb1" /><Relationship Type="http://schemas.openxmlformats.org/officeDocument/2006/relationships/slideLayout" Target="/ppt/slideLayouts/slideLayout1.xml" Id="R864299d6d7f0452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64299d6d7f0452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624237298964972" /><Relationship Type="http://schemas.openxmlformats.org/officeDocument/2006/relationships/notesSlide" Target="/ppt/notesSlides/notesSlide1.xml" Id="R40c21b4bcf9745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aeb57ea48f4490" /><Relationship Type="http://schemas.openxmlformats.org/officeDocument/2006/relationships/notesSlide" Target="/ppt/notesSlides/notesSlide2.xml" Id="Rf7f166e2e1b14f0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656675e7214963" /><Relationship Type="http://schemas.openxmlformats.org/officeDocument/2006/relationships/image" Target="/ppt/media/image.png" Id="Rd7334f00865149f7" /><Relationship Type="http://schemas.openxmlformats.org/officeDocument/2006/relationships/notesSlide" Target="/ppt/notesSlides/notesSlide3.xml" Id="R0f96dc23e6d840d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e430715bfc4a96" /><Relationship Type="http://schemas.openxmlformats.org/officeDocument/2006/relationships/notesSlide" Target="/ppt/notesSlides/notesSlide4.xml" Id="Ref4d58c4317348c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6a217f66354810" /><Relationship Type="http://schemas.openxmlformats.org/officeDocument/2006/relationships/notesSlide" Target="/ppt/notesSlides/notesSlide5.xml" Id="R6627ede6670c481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4a54b8a614e8e" /><Relationship Type="http://schemas.openxmlformats.org/officeDocument/2006/relationships/notesSlide" Target="/ppt/notesSlides/notesSlide6.xml" Id="Rc86f6c41c9cc409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dd373b974f4209" /><Relationship Type="http://schemas.openxmlformats.org/officeDocument/2006/relationships/notesSlide" Target="/ppt/notesSlides/notesSlide7.xml" Id="Rba93979cf4ca4d2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080fc3fa7b143d6" /><Relationship Type="http://schemas.openxmlformats.org/officeDocument/2006/relationships/notesSlide" Target="/ppt/notesSlides/notesSlide8.xml" Id="R2325ca9c4217440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52F6633-0F08-40EE-9C46-11E46463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B8A4B0-559F-40D2-9C5B-D4033FE38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876300"/>
            <a:ext cx="590550" cy="590550"/>
          </a:xfrm>
          <a:prstGeom xmlns:a="http://schemas.openxmlformats.org/drawingml/2006/main" prst="roundRect">
            <a:avLst>
              <a:gd name="adj" fmla="val 25806"/>
            </a:avLst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6ED6F-D51A-4DBC-B7B9-48188D87A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1000125"/>
            <a:ext cx="247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42233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10241E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10241E"/>
                </a:solidFill>
                <a:latin typeface="Segoe UI"/>
                <a:ea typeface="Segoe UI"/>
                <a:cs typeface="Segoe UI"/>
              </a:rPr>
              <a:t>P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69917D-840D-48CE-BF22-B6615F459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7905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5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5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F7B95A-8F60-4BC4-A0BD-8993AE64D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114675"/>
            <a:ext cx="8096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21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Cross-chain lending eligibility verified on Creditcoin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78393F-50C6-45F9-9AC3-409BD58B9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067175"/>
            <a:ext cx="5238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CA9CDA-7957-4D30-A83F-9E0EDAA80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62450"/>
            <a:ext cx="2857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BUIDL CTC 2026 Fall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81D0C6-1D81-452B-B2B2-102A0436A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781550"/>
            <a:ext cx="3238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DeFi track  /  Solo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BB79D-1E31-42B1-A6E0-C1D501104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876925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</p:spTree>
    <p:extLst>
      <p:ext uri="{BB962C8B-B14F-4D97-AF65-F5344CB8AC3E}">
        <p14:creationId xmlns:p14="http://schemas.microsoft.com/office/powerpoint/2010/main" val="11515356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4BD1695-F438-4979-9944-672DAD9B5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7830D3-D931-4C05-88F5-5F0C492F3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PROBLEM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5C9E5C-1482-47FE-9EE5-09100EF33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5F74E3-D022-47C0-BFA1-42D25778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Cross-chain lending still depends on trusted reports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A57895-7CC0-41B8-839E-2C6EFDD8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9725"/>
            <a:ext cx="10382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7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A destination contract cannot inspect Ethereum by itself. Many applications fill that gap with a private indexer or backend assertion.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222CCCA-EDF5-45D7-8C46-9C9F81EF6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52725"/>
            <a:ext cx="47625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CD46DC-BF1B-4110-A5C9-334212D3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342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Backend assertion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FC82B7-DBCE-4FAE-A1C3-1F7799633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3810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9242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“This address completed the required action.”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430A7-68CC-49E3-AEFD-B2AC5472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600575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234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The lending contract must trust the reporter.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0C89BB-D937-46D9-97FE-EBCD44ED8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752725"/>
            <a:ext cx="5676900" cy="2552700"/>
          </a:xfrm>
          <a:prstGeom xmlns:a="http://schemas.openxmlformats.org/drawingml/2006/main" prst="roundRect">
            <a:avLst>
              <a:gd name="adj" fmla="val 6716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638F0A-1B05-4D26-A7B1-AD17543AE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0861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827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verified on Creditcoin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31053C0-347C-45C5-938F-9BCE57164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657600"/>
            <a:ext cx="47625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65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Transaction bytes plus Merkle and continuity proofs reach the contract.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BEF105C-D07B-45DF-AADF-6FA923954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4600575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Only verified source data can change eligibility.</a:t>
            </a:r>
          </a:p>
        </p:txBody>
      </p:sp>
    </p:spTree>
    <p:extLst>
      <p:ext uri="{BB962C8B-B14F-4D97-AF65-F5344CB8AC3E}">
        <p14:creationId xmlns:p14="http://schemas.microsoft.com/office/powerpoint/2010/main" val="70725101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4C79D0-B9DB-45F1-B91B-84C918C39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637137-8C0D-44C1-A705-6EDDB6FC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216648B-F7F8-4A97-847E-50F276170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C4A39-60B0-4889-818B-029A1F833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two-transaction path from signal to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7BD8F85-DDB4-4DE7-859C-C68E8F3F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428750"/>
            <a:ext cx="4876800" cy="4762500"/>
          </a:xfrm>
          <a:prstGeom xmlns:a="http://schemas.openxmlformats.org/drawingml/2006/main" prst="roundRect">
            <a:avLst>
              <a:gd name="adj" fmla="val 36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7334f00865149f7"/>
          <a:srcRect xmlns:a="http://schemas.openxmlformats.org/drawingml/2006/main" l="0" t="18027" r="0" b="180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00850" y="1524000"/>
            <a:ext cx="4686300" cy="4572000"/>
          </a:xfrm>
          <a:prstGeom xmlns:a="http://schemas.openxmlformats.org/drawingml/2006/main" prst="roundRect">
            <a:avLst>
              <a:gd name="adj" fmla="val 2917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424F1E-BFE4-423A-88CF-C63ED0F05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6668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109E68E-C061-4B12-917C-704FDDA36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6287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Create the signal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942598-1FE5-414C-9BD7-D0EA7E513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0478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emits EligibilityRequested on Sepolia.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366604-B305-4BEC-ADC7-A05B05E64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1942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091C48-5AD9-4492-96C8-4576D780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98132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Build the proof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8D955DE-4A03-4108-9390-D4BAAAD44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40042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ProofLend waits for attestation and obtains proof data.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5BEBC8-C25F-4F08-9B56-E59A9B676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71975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11DEC40-D21E-4741-A36F-1587E98C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333875"/>
            <a:ext cx="447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02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Record eligibility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39FBC7-47F4-4A0F-AABF-4F31D49BD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752975"/>
            <a:ext cx="4762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wallet submits the proof to Creditcoin.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2F0947-5B4D-4C1B-9DB8-C1444C4CB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743575"/>
            <a:ext cx="4857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The wallet signs. ProofLend never handles private keys.</a:t>
            </a:r>
          </a:p>
        </p:txBody>
      </p:sp>
    </p:spTree>
    <p:extLst>
      <p:ext uri="{BB962C8B-B14F-4D97-AF65-F5344CB8AC3E}">
        <p14:creationId xmlns:p14="http://schemas.microsoft.com/office/powerpoint/2010/main" val="66981390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38EF0CD-8730-451A-B05B-AA634AFB3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23213A-8756-4E21-8C9F-7E4382FDE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ARCHITECTURE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F50D7E-7A74-429F-9748-8F121F89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224D0-BC8D-4DD3-95F4-D457D72DB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verification path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F494FC-F287-42B9-A384-A592190BF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019300"/>
            <a:ext cx="1952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125396-49DC-4284-ADC6-0A8E54A1C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09800"/>
            <a:ext cx="1533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User wallet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3FD29-3C46-4606-9AF2-9BC1B403A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533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Signs source and destination transactions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AC1F1CC-0733-414E-8A7C-CD9754FF4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2019300"/>
            <a:ext cx="2333625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50981D7-0A78-455E-A241-AB71FBEC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209800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Sepolia signal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C16169-73D8-483E-80DB-7160988CD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2571750"/>
            <a:ext cx="191452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EligibilityRequested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615C670-3207-4DE2-9543-2532593DE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019300"/>
            <a:ext cx="257175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A3003AF-A9BE-4157-8177-50C20284D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209800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Attestcoin proof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2DC4C0-51F3-4CCC-86A4-AC31DF6E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2571750"/>
            <a:ext cx="21526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Transaction bytes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Merkle + continuity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4C6B74-5810-4989-92BC-7EB568C09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2019300"/>
            <a:ext cx="2971800" cy="1381125"/>
          </a:xfrm>
          <a:prstGeom xmlns:a="http://schemas.openxmlformats.org/drawingml/2006/main" prst="roundRect">
            <a:avLst>
              <a:gd name="adj" fmla="val 1241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865C078-7239-4E16-BC83-DE906BF59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209800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Creditcoin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BEE1A3-5B14-4233-A20A-F207B5F2A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571750"/>
            <a:ext cx="25527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Verifies, decodes, records</a:t>
            </a:r>
          </a:p>
        </p:txBody>
      </p:sp>
      <p:cxnSp>
        <p:nvCxnSpPr>
          <p:cNvPr id="48" name=""/>
          <p:cNvCxnSpPr>
            <a:stCxn xmlns:a="http://schemas.openxmlformats.org/drawingml/2006/main" id="5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2466975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49" name=""/>
          <p:cNvCxnSpPr>
            <a:stCxn xmlns:a="http://schemas.openxmlformats.org/drawingml/2006/main" id="8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2387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50" name=""/>
          <p:cNvCxnSpPr>
            <a:stCxn xmlns:a="http://schemas.openxmlformats.org/drawingml/2006/main" id="11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8248650" y="2709863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9CA0D5-53CB-4106-9994-E96313963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4486275"/>
            <a:ext cx="2333625" cy="1190625"/>
          </a:xfrm>
          <a:prstGeom xmlns:a="http://schemas.openxmlformats.org/drawingml/2006/main" prst="roundRect">
            <a:avLst>
              <a:gd name="adj" fmla="val 14400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EB9AD3-8674-4FA4-9BF8-66B2B16F2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4676775"/>
            <a:ext cx="19145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Attestors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E191595-CEA6-449B-B7BC-FB78AC461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4675" y="5038725"/>
            <a:ext cx="19145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Commit Sepolia block state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FD189-A425-4D34-9895-A25232789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295775"/>
            <a:ext cx="257175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1C1EDD1-D3C5-4C41-BAE7-2F3BD5AB8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486275"/>
            <a:ext cx="2152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45AA748-3E26-4403-9120-5FD5010E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848225"/>
            <a:ext cx="21526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Checks attested height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Uses official SDK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Requests Proof Builder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DB9B77D-1A5E-4349-AA28-F8EB02362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295775"/>
            <a:ext cx="2971800" cy="1571625"/>
          </a:xfrm>
          <a:prstGeom xmlns:a="http://schemas.openxmlformats.org/drawingml/2006/main" prst="roundRect">
            <a:avLst>
              <a:gd name="adj" fmla="val 10909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DEA5A4-2547-4DEB-98A4-518075DA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486275"/>
            <a:ext cx="25527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652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7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Native checks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1CD9CE6-BF8C-4410-A3B8-7A15FDF2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848225"/>
            <a:ext cx="25527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Verifier 0x0FD2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Approved event source</a:t>
            </a:r>
          </a:p>
          <a:p xmlns:a="http://schemas.openxmlformats.org/drawingml/2006/main">
            <a:pPr>
              <a:defRPr sz="1275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75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Replay protection</a:t>
            </a:r>
          </a:p>
        </p:txBody>
      </p:sp>
      <p:cxnSp>
        <p:nvCxnSpPr>
          <p:cNvPr id="60" name=""/>
          <p:cNvCxnSpPr>
            <a:stCxn xmlns:a="http://schemas.openxmlformats.org/drawingml/2006/main" id="20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52387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cxnSp>
        <p:nvCxnSpPr>
          <p:cNvPr id="61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8248650" y="5081588"/>
            <a:ext cx="438150" cy="0"/>
          </a:xfrm>
          <a:prstGeom xmlns:a="http://schemas.openxmlformats.org/drawingml/2006/main" prst="straightConnector1">
            <a:avLst/>
          </a:prstGeom>
          <a:ln xmlns:a="http://schemas.openxmlformats.org/drawingml/2006/main" w="23813">
            <a:solidFill>
              <a:srgbClr val="D8FE60"/>
            </a:solidFill>
            <a:prstDash val="solid"/>
            <a:tailEnd type="triangle" w="sm" len="sm"/>
          </a:ln>
        </p:spPr>
      </p:cxn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FE0CF0B-1A06-47A8-A698-E3F8C1B7C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15315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State changes only after proof and event validation succeed.</a:t>
            </a:r>
          </a:p>
        </p:txBody>
      </p:sp>
    </p:spTree>
    <p:extLst>
      <p:ext uri="{BB962C8B-B14F-4D97-AF65-F5344CB8AC3E}">
        <p14:creationId xmlns:p14="http://schemas.microsoft.com/office/powerpoint/2010/main" val="19072575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D87F64-6E74-4A91-8253-AD4A9CBF0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C6F4BB-D08D-4EB8-BECB-BADD336E3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CONTRACT LOGIC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DE3B9D-DAA8-4DB7-8A4B-C1DCBA505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84F22C7-6C7A-46A1-BC64-D7AECA79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The destination contract controls the decision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F26525-FF85-4DFD-BD3B-F58F6845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4ACF00-8470-426C-83E4-B77A1E007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Verify inclusion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5B5A7F-9200-42D2-A50D-D14666240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0x0FD2 checks the Merkle and continuity proofs.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D34FF3-40B3-4BAA-BF62-400C8C538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126DB3-B249-4799-82AB-7EBFECD66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75260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6531FA-7BCA-4240-8029-6836F84C7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752600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Validate the event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B3623D-2C84-47E7-A6A8-F97B08349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19325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The receipt must contain the expected signature from the configured source contract.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F069862-F7FE-4D37-B09C-B625D922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48025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029519A-E9ED-4A90-BE16-6B23DA1CF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F95BEA-5931-4868-BEFB-13CC161FB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Decode the applicant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3D7A9C-8234-431D-A514-F7D110628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EvmV1Decoder extracts the address and request ID from the proven receipt.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2926AC-85D9-45B7-8420-2F240E705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705225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476"/>
          </a:bodyPr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21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9B74465-AA6B-45C1-A73E-C2B8CDBD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705225"/>
            <a:ext cx="447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436"/>
          </a:bodyPr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9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Prevent 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321EE4-E9C8-49BD-AAAD-107DA5798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457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0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processedQueries rejects a second use of the same query ID.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1639CB6-F38C-4475-A150-7B4B9ECDA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72800" cy="609600"/>
          </a:xfrm>
          <a:prstGeom xmlns:a="http://schemas.openxmlformats.org/drawingml/2006/main" prst="roundRect">
            <a:avLst>
              <a:gd name="adj" fmla="val 21875"/>
            </a:avLst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3F7DCD-50C5-43C4-AE65-6891539B2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" y="5772150"/>
            <a:ext cx="10429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0241E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10241E"/>
                </a:solidFill>
                <a:latin typeface="Segoe UI"/>
                <a:ea typeface="Segoe UI"/>
                <a:cs typeface="Segoe UI"/>
              </a:rPr>
              <a:t>verifiedRequestId[applicant] changes only after all four checks pass</a:t>
            </a:r>
          </a:p>
        </p:txBody>
      </p:sp>
    </p:spTree>
    <p:extLst>
      <p:ext uri="{BB962C8B-B14F-4D97-AF65-F5344CB8AC3E}">
        <p14:creationId xmlns:p14="http://schemas.microsoft.com/office/powerpoint/2010/main" val="88900602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38E019-AE3B-42F9-9784-552E067A9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4F1B6-BE77-4A32-88FF-90D0D2BBE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PUBLIC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1CDD6E-AADD-439D-8FCA-FDF31693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8FD736-A414-47ED-8F71-E36ACF3EB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 Public testnet execution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E50B5F-7324-4DB9-8F82-0F7C6FA5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SEPOLIA REQUEST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519BAC-5848-43DB-AF53-F6BBE326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572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EligibilityRequested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8B6AE7-498A-44F9-943A-E980568B5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05100"/>
            <a:ext cx="4572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0xd5ba4fa9…ad820345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500DCE-2633-45C1-9946-ECA7BF193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Request ID 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446606-7997-486E-B82F-54F108A95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1762125"/>
            <a:ext cx="190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3B2701-1C89-45F0-A1C9-1DE38C231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CREDITCOIN EXECUTION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00D20B-F9D9-44F1-960E-A54991CC9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1526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7849"/>
          </a:bodyPr>
          <a:lstStyle xmlns:a="http://schemas.openxmlformats.org/drawingml/2006/main"/>
          <a:p xmlns:a="http://schemas.openxmlformats.org/drawingml/2006/main">
            <a:pPr>
              <a:defRPr sz="23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3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EligibilityVerified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65F267-5F1D-4771-9D5E-31B87D08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0510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0xdec3d335…e5a13096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AD7228B-7484-45AA-B6B1-A6030344E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16230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35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Query ID 0x3170fd6f…4b47ba22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27A754-A418-43A0-8F77-758F1B57F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692AAD-42A2-421F-80BD-448563792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Applicant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3A3E70-3A94-46A7-BFCB-7C864E673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676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2424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0xFC99c75De3188eB27f5331E24c51F4B68F1F4286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CF68-40B8-4068-821A-A98B0E17C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3333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833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Both deployed contract addresses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8F1CE99-E92F-43D8-8B0A-E14D9E40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43575"/>
            <a:ext cx="6381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0xa91ebc1dc12aa9c43e7acc2ac4227309bdd7188f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E59CB0-141C-471A-A95E-9032A3AD7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743575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309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275" b="1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Same address, separate bytecode on separate networks</a:t>
            </a:r>
          </a:p>
        </p:txBody>
      </p:sp>
    </p:spTree>
    <p:extLst>
      <p:ext uri="{BB962C8B-B14F-4D97-AF65-F5344CB8AC3E}">
        <p14:creationId xmlns:p14="http://schemas.microsoft.com/office/powerpoint/2010/main" val="20676583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086328-118F-4666-A743-73E0A49E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3DF1DB-BD77-49BE-991E-89AE95875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IMPLEMENTATION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F8A3A-6D2E-42F6-89DE-87805AA6F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716B9-5A15-493C-8EBD-942CDCF3E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small stack with a clear trust boundary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02CC0E-245C-42AA-B970-05F72254F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BF96F3-6150-4655-8A3C-193BFA3EE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573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Browser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A35523-3312-47A8-8560-CED721549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18573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React · Vite · ethers.js · EIP-6963 wallet discovery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2A86890-EEF9-4DD7-83FA-3F82AC14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574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F9D6C8-4771-4F26-957A-3D16E6CB9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479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 service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E501CC-ED76-4166-8D14-857B068E5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8479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Vercel Function · @gluwa/usc-sdk · Proof Builder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F1E421-EC95-4EFC-BA5D-7376FD4DD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42F27"/>
          </a:solidFill>
          <a:ln xmlns:a="http://schemas.openxmlformats.org/drawingml/2006/main" w="9525">
            <a:solidFill>
              <a:srgbClr val="395A4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5C7559-7A8E-4C6C-932A-9A930DCBB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8385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Source contract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751E47-D241-4A86-AA94-FF1DA3ED1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8385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ProofLendSignal on Ethereum Sepolia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D3510C7-8355-4EE6-B404-3CE34E025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38675"/>
            <a:ext cx="10972800" cy="781050"/>
          </a:xfrm>
          <a:prstGeom xmlns:a="http://schemas.openxmlformats.org/drawingml/2006/main" prst="roundRect">
            <a:avLst>
              <a:gd name="adj" fmla="val 14634"/>
            </a:avLst>
          </a:prstGeom>
          <a:solidFill xmlns:a="http://schemas.openxmlformats.org/drawingml/2006/main">
            <a:srgbClr val="1C4035"/>
          </a:solidFill>
          <a:ln xmlns:a="http://schemas.openxmlformats.org/drawingml/2006/main" w="9525">
            <a:solidFill>
              <a:srgbClr val="D8FE6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853561-5715-4076-B0BC-2FC55D29F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29175"/>
            <a:ext cx="2428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65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Execution contract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244D26-7E89-479F-BF72-706AE72AA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829175"/>
            <a:ext cx="7715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425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425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ProofLendEligibility · EvmV1Decoder · verifier precompile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493D11-091E-4C34-A814-58543E94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8645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contracts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596E5FB-65B5-4021-BBC1-88AC1FD56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5886450"/>
            <a:ext cx="2190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2 public testnets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07ECC7-28C6-44D9-A886-7CEBF1EC5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886450"/>
            <a:ext cx="3810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246"/>
          </a:bodyPr>
          <a:lstStyle xmlns:a="http://schemas.openxmlformats.org/drawingml/2006/main"/>
          <a:p xmlns:a="http://schemas.openxmlformats.org/drawingml/2006/main">
            <a:pPr>
              <a:defRPr sz="14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4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 private keys handled by the app</a:t>
            </a:r>
          </a:p>
        </p:txBody>
      </p:sp>
    </p:spTree>
    <p:extLst>
      <p:ext uri="{BB962C8B-B14F-4D97-AF65-F5344CB8AC3E}">
        <p14:creationId xmlns:p14="http://schemas.microsoft.com/office/powerpoint/2010/main" val="138551557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1024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C5FB6D-FB65-4184-8E70-A6735A1B6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857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FE60"/>
          </a:soli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0AA7E21-FBA8-40FE-9D59-58C9F330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"/>
            <a:ext cx="476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 VERSION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BE4AB2-5612-45F1-B0DB-E9A50D96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333375"/>
            <a:ext cx="38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1CCA20-EC9C-4B27-A6E6-013F252B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62000"/>
            <a:ext cx="10668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32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 can verify real lending signals next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4A56F-0185-45FD-A9F9-F68725B14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TODAY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6EFAD5-2196-451F-81EB-C4474A45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476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346"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202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A simple eligibility event proves the complete Attestcoin path end to end.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9BA3C1-A37E-466A-BBD7-E547266E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77165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125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NEXT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FD26F2F-E6C5-42B1-AE17-8FFE988C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2002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A63C16-6FDE-4AC3-A327-6B82537A0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1526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3202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1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Repayment and collateral events as verified inputs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6C396BF-8228-4B8F-A3F7-1F0CC7B59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8132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20A616D-F0A7-4BF7-B1E3-5172A0CAE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93370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5952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Policy contracts that combine several proven signals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209D46-53A5-422F-902D-086BDA3C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762375"/>
            <a:ext cx="428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D8FE60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D8FE60"/>
                </a:solidFill>
                <a:latin typeface="Segoe UI"/>
                <a:ea typeface="Segoe UI"/>
                <a:cs typeface="Segoe U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4EAF3EB-5260-4B70-B72B-A3F968F18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3714750"/>
            <a:ext cx="4381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8333"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C8D7C8"/>
                </a:solidFill>
                <a:latin typeface="Segoe UI"/>
                <a:ea typeface="Segoe UI"/>
                <a:cs typeface="Segoe UI"/>
              </a:defRPr>
            </a:pPr>
            <a:r>
              <a:rPr sz="1500" b="0">
                <a:solidFill>
                  <a:srgbClr val="C8D7C8"/>
                </a:solidFill>
                <a:latin typeface="Segoe UI"/>
                <a:ea typeface="Segoe UI"/>
                <a:cs typeface="Segoe UI"/>
              </a:rPr>
              <a:t>Relayed and batched proofs for a simpler user experience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0C5640-154F-4BAF-A956-E3DEA41F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95A4C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1946EE-51DE-4F68-B221-A9B2D98B9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Live demo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B9D4037-1938-46E5-8F50-80632CC45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24500"/>
            <a:ext cx="4095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prooflend.vercel.app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8344E5-CB47-4368-A001-4F1B423C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181600"/>
            <a:ext cx="1714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0625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92AA98"/>
                </a:solidFill>
                <a:latin typeface="Segoe UI"/>
                <a:ea typeface="Segoe UI"/>
                <a:cs typeface="Segoe UI"/>
              </a:defRPr>
            </a:pPr>
            <a:r>
              <a:rPr sz="1200" b="1">
                <a:solidFill>
                  <a:srgbClr val="92AA98"/>
                </a:solidFill>
                <a:latin typeface="Segoe UI"/>
                <a:ea typeface="Segoe UI"/>
                <a:cs typeface="Segoe UI"/>
              </a:rPr>
              <a:t>Source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0DAB69-1739-4CAB-8B64-1A7B78A7F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5524500"/>
            <a:ext cx="476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667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3F7EF"/>
                </a:solidFill>
                <a:latin typeface="Segoe UI"/>
                <a:ea typeface="Segoe UI"/>
                <a:cs typeface="Segoe UI"/>
              </a:defRPr>
            </a:pPr>
            <a:r>
              <a:rPr sz="1875" b="1">
                <a:solidFill>
                  <a:srgbClr val="F3F7EF"/>
                </a:solidFill>
                <a:latin typeface="Segoe UI"/>
                <a:ea typeface="Segoe UI"/>
                <a:cs typeface="Segoe UI"/>
              </a:rPr>
              <a:t>github.com/Elvino03/prooflend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642B8-CA66-4E01-ADD9-AE605A10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8572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556"/>
          </a:bodyPr>
          <a:lstStyle xmlns:a="http://schemas.openxmlformats.org/drawingml/2006/main"/>
          <a:p xmlns:a="http://schemas.openxmlformats.org/drawingml/2006/main">
            <a:pPr>
              <a:defRPr sz="1125" b="0">
                <a:solidFill>
                  <a:srgbClr val="F2D78D"/>
                </a:solidFill>
                <a:latin typeface="Segoe UI"/>
                <a:ea typeface="Segoe UI"/>
                <a:cs typeface="Segoe UI"/>
              </a:defRPr>
            </a:pPr>
            <a:r>
              <a:rPr sz="1125" b="0">
                <a:solidFill>
                  <a:srgbClr val="F2D78D"/>
                </a:solidFill>
                <a:latin typeface="Segoe UI"/>
                <a:ea typeface="Segoe UI"/>
                <a:cs typeface="Segoe UI"/>
              </a:rPr>
              <a:t>Testnet prototype. Eligibility is not a real credit score or loan offer.</a:t>
            </a:r>
          </a:p>
        </p:txBody>
      </p:sp>
    </p:spTree>
    <p:extLst>
      <p:ext uri="{BB962C8B-B14F-4D97-AF65-F5344CB8AC3E}">
        <p14:creationId xmlns:p14="http://schemas.microsoft.com/office/powerpoint/2010/main" val="1434722295"/>
      </p:ext>
    </p:extLst>
  </p:cSld>
</p:sld>
</file>

<file path=ppt/theme/theme1.xml><?xml version="1.0" encoding="utf-8"?>
<a:theme xmlns:a="http://schemas.openxmlformats.org/drawingml/2006/main" name="ChatGPT">
  <a:themeElements>
    <a:clrScheme name="ProofLend">
      <a:dk1>
        <a:srgbClr val="07110E"/>
      </a:dk1>
      <a:lt1>
        <a:srgbClr val="F3F7EF"/>
      </a:lt1>
      <a:dk2>
        <a:srgbClr val="17352C"/>
      </a:dk2>
      <a:lt2>
        <a:srgbClr val="E2EBDD"/>
      </a:lt2>
      <a:accent1>
        <a:srgbClr val="D8FE60"/>
      </a:accent1>
      <a:accent2>
        <a:srgbClr val="75A48B"/>
      </a:accent2>
      <a:accent3>
        <a:srgbClr val="F2D78D"/>
      </a:accent3>
      <a:accent4>
        <a:srgbClr val="EF8F83"/>
      </a:accent4>
      <a:accent5>
        <a:srgbClr val="8B7CF6"/>
      </a:accent5>
      <a:accent6>
        <a:srgbClr val="67C4D4"/>
      </a:accent6>
      <a:hlink>
        <a:srgbClr val="D8FE60"/>
      </a:hlink>
      <a:folHlink>
        <a:srgbClr val="A7C84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ProofLend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2026-09-08T13:04:59.0890000Z</dcterms:created>
  <dcterms:modified xsi:type="dcterms:W3CDTF">2026-09-08T13:04:59.0890000Z</dcterms:modified>
</coreProperties>
</file>