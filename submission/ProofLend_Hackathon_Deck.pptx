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74d47bd60e404b" /><Relationship Type="http://schemas.openxmlformats.org/officeDocument/2006/relationships/extended-properties" Target="/docProps/app.xml" Id="R9821a1e57c784eb0" /><Relationship Type="http://schemas.openxmlformats.org/officeDocument/2006/relationships/officeDocument" Target="/ppt/presentation.xml" Id="Re5a775ed80da40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e5dd25454f4c4a"/>
  </p:sldMasterIdLst>
  <p:notesMasterIdLst>
    <p:notesMasterId xmlns:r="http://schemas.openxmlformats.org/officeDocument/2006/relationships" r:id="R0e1914e1d87249f5"/>
  </p:notesMasterIdLst>
  <p:sldIdLst>
    <p:sldId xmlns:r="http://schemas.openxmlformats.org/officeDocument/2006/relationships" id="256" r:id="R97cfb32fcb2c446d"/>
    <p:sldId xmlns:r="http://schemas.openxmlformats.org/officeDocument/2006/relationships" id="257" r:id="R8c9a5b0c20c84e4c"/>
    <p:sldId xmlns:r="http://schemas.openxmlformats.org/officeDocument/2006/relationships" id="258" r:id="Re0f1652207c8473f"/>
    <p:sldId xmlns:r="http://schemas.openxmlformats.org/officeDocument/2006/relationships" id="259" r:id="R76a1e97e73744a20"/>
    <p:sldId xmlns:r="http://schemas.openxmlformats.org/officeDocument/2006/relationships" id="260" r:id="Re23095db94864a7e"/>
    <p:sldId xmlns:r="http://schemas.openxmlformats.org/officeDocument/2006/relationships" id="261" r:id="R0de5d302de5a4db1"/>
    <p:sldId xmlns:r="http://schemas.openxmlformats.org/officeDocument/2006/relationships" id="262" r:id="Rccc452a5a2234a68"/>
    <p:sldId xmlns:r="http://schemas.openxmlformats.org/officeDocument/2006/relationships" id="263" r:id="Ra4cac417885c4e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dafb548e144a82" /><Relationship Type="http://schemas.openxmlformats.org/officeDocument/2006/relationships/slideMaster" Target="/ppt/slideMasters/slideMaster1.xml" Id="R01e5dd25454f4c4a" /><Relationship Type="http://schemas.openxmlformats.org/officeDocument/2006/relationships/notesMaster" Target="/ppt/notesMasters/notesMaster1.xml" Id="R0e1914e1d87249f5" /><Relationship Type="http://schemas.openxmlformats.org/officeDocument/2006/relationships/presProps" Target="/ppt/presProps.xml" Id="R2c07aa299b324b27" /><Relationship Type="http://schemas.openxmlformats.org/officeDocument/2006/relationships/tableStyles" Target="/ppt/tableStyles.xml" Id="R5cab89a5567c46b2" /><Relationship Type="http://schemas.openxmlformats.org/officeDocument/2006/relationships/slide" Target="/ppt/slides/slide1.xml" Id="R97cfb32fcb2c446d" /><Relationship Type="http://schemas.openxmlformats.org/officeDocument/2006/relationships/slide" Target="/ppt/slides/slide2.xml" Id="R8c9a5b0c20c84e4c" /><Relationship Type="http://schemas.openxmlformats.org/officeDocument/2006/relationships/slide" Target="/ppt/slides/slide3.xml" Id="Re0f1652207c8473f" /><Relationship Type="http://schemas.openxmlformats.org/officeDocument/2006/relationships/slide" Target="/ppt/slides/slide4.xml" Id="R76a1e97e73744a20" /><Relationship Type="http://schemas.openxmlformats.org/officeDocument/2006/relationships/slide" Target="/ppt/slides/slide5.xml" Id="Re23095db94864a7e" /><Relationship Type="http://schemas.openxmlformats.org/officeDocument/2006/relationships/slide" Target="/ppt/slides/slide6.xml" Id="R0de5d302de5a4db1" /><Relationship Type="http://schemas.openxmlformats.org/officeDocument/2006/relationships/slide" Target="/ppt/slides/slide7.xml" Id="Rccc452a5a2234a68" /><Relationship Type="http://schemas.openxmlformats.org/officeDocument/2006/relationships/slide" Target="/ppt/slides/slide8.xml" Id="Ra4cac417885c4e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50ca11797747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ProofLend">
      <a:dk1>
        <a:srgbClr val="07110E"/>
      </a:dk1>
      <a:lt1>
        <a:srgbClr val="F3F7EF"/>
      </a:lt1>
      <a:dk2>
        <a:srgbClr val="17352C"/>
      </a:dk2>
      <a:lt2>
        <a:srgbClr val="E2EBDD"/>
      </a:lt2>
      <a:accent1>
        <a:srgbClr val="D8FE60"/>
      </a:accent1>
      <a:accent2>
        <a:srgbClr val="75A48B"/>
      </a:accent2>
      <a:accent3>
        <a:srgbClr val="F2D78D"/>
      </a:accent3>
      <a:accent4>
        <a:srgbClr val="EF8F83"/>
      </a:accent4>
      <a:accent5>
        <a:srgbClr val="8B7CF6"/>
      </a:accent5>
      <a:accent6>
        <a:srgbClr val="67C4D4"/>
      </a:accent6>
      <a:hlink>
        <a:srgbClr val="D8FE60"/>
      </a:hlink>
      <a:folHlink>
        <a:srgbClr val="A7C84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ProofLen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f9be9824ca43b6" /><Relationship Type="http://schemas.openxmlformats.org/officeDocument/2006/relationships/notesMaster" Target="/ppt/notesMasters/notesMaster1.xml" Id="R69649a6b2dd14d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0d15405ff04d2b" /><Relationship Type="http://schemas.openxmlformats.org/officeDocument/2006/relationships/notesMaster" Target="/ppt/notesMasters/notesMaster1.xml" Id="R526288d8db6648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249f1304bc4967" /><Relationship Type="http://schemas.openxmlformats.org/officeDocument/2006/relationships/notesMaster" Target="/ppt/notesMasters/notesMaster1.xml" Id="R5fa4c1c35e954c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88ee690c0f47f5" /><Relationship Type="http://schemas.openxmlformats.org/officeDocument/2006/relationships/notesMaster" Target="/ppt/notesMasters/notesMaster1.xml" Id="Rd9dec8eaa1b34f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9cf180980e45c1" /><Relationship Type="http://schemas.openxmlformats.org/officeDocument/2006/relationships/notesMaster" Target="/ppt/notesMasters/notesMaster1.xml" Id="R4e95dc3be78246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f01bb203f64ff9" /><Relationship Type="http://schemas.openxmlformats.org/officeDocument/2006/relationships/notesMaster" Target="/ppt/notesMasters/notesMaster1.xml" Id="Rf1dc14e30d724b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2254fd8c6b476d" /><Relationship Type="http://schemas.openxmlformats.org/officeDocument/2006/relationships/notesMaster" Target="/ppt/notesMasters/notesMaster1.xml" Id="R06ba504e061d4d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6cfb9147b847ac" /><Relationship Type="http://schemas.openxmlformats.org/officeDocument/2006/relationships/notesMaster" Target="/ppt/notesMasters/notesMaster1.xml" Id="R08b6258cbdc546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ProofLend turns a source-chain event into lending eligibility that a Creditcoin contract verifies for itself.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https://buidl.creditcoin.org/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design choice: the off-chain component gathers public material, while the destination contract enforces trust.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https://docs.creditcoin.org/usc/overview/usc-architecture-overview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user flow. Mention the attestation wait, automatic retries, network switching, and public explorer links.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Project source: https://github.com/Elvino03/prooflend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Architecture: the source emits a narrow event. Attestcoin anchors source-chain state. The proof service retrieves public proof material. The Creditcoin contract verifies and interprets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https://docs.creditcoin.org/usc/dapp-builder-infrastructure/dapp-design-patterns</a:t>
            </a:r>
          </a:p>
          <a:p xmlns:a="http://schemas.openxmlformats.org/drawingml/2006/main">
            <a:r>
              <a:t>https://docs.creditcoin.org/usc/creditcoin-oracle-subsystems/proving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Highlight that Attestcoin is a required execution input. The proof builder cannot directly write eligibility. The contract enforces source validation and replay protection.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https://docs.creditcoin.org/usc/dapp-builder-infrastructure/universal-smart-contracts</a:t>
            </a:r>
          </a:p>
          <a:p xmlns:a="http://schemas.openxmlformats.org/drawingml/2006/main">
            <a:r>
              <a:t>Project contract: contracts/src/ProofLendEligibility.sol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both explorer links during the demo and show successful status plus emitted events.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https://sepolia.etherscan.io/tx/0xd5ba4fa9041a7de72bcbee6ca12ef32c8e188c4ef828564469989a69ad820345</a:t>
            </a:r>
          </a:p>
          <a:p xmlns:a="http://schemas.openxmlformats.org/drawingml/2006/main">
            <a:r>
              <a:t>https://creditcoin-testnet.blockscout.com/tx/0xdec3d335a1d178fa92e05af5818b607669fa8d9de0c1b4fc6d6e2626e5a13096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architecture keeps source logic narrow and destination checks explicit. Wallets sign both transactions, and the application does not custody funds or credentials.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https://github.com/Elvino03/prooflend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concrete next product step and direct judges to the live application, repository, and public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https://prooflend.vercel.app/</a:t>
            </a:r>
          </a:p>
          <a:p xmlns:a="http://schemas.openxmlformats.org/drawingml/2006/main">
            <a:r>
              <a:t>https://github.com/Elvino03/prooflend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902cec00d645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1c53b15ed44e34" /><Relationship Type="http://schemas.openxmlformats.org/officeDocument/2006/relationships/slideLayout" Target="/ppt/slideLayouts/slideLayout1.xml" Id="R17146ac6b64445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146ac6b64445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ProofLend">
      <a:dk1>
        <a:srgbClr val="07110E"/>
      </a:dk1>
      <a:lt1>
        <a:srgbClr val="F3F7EF"/>
      </a:lt1>
      <a:dk2>
        <a:srgbClr val="17352C"/>
      </a:dk2>
      <a:lt2>
        <a:srgbClr val="E2EBDD"/>
      </a:lt2>
      <a:accent1>
        <a:srgbClr val="D8FE60"/>
      </a:accent1>
      <a:accent2>
        <a:srgbClr val="75A48B"/>
      </a:accent2>
      <a:accent3>
        <a:srgbClr val="F2D78D"/>
      </a:accent3>
      <a:accent4>
        <a:srgbClr val="EF8F83"/>
      </a:accent4>
      <a:accent5>
        <a:srgbClr val="8B7CF6"/>
      </a:accent5>
      <a:accent6>
        <a:srgbClr val="67C4D4"/>
      </a:accent6>
      <a:hlink>
        <a:srgbClr val="D8FE60"/>
      </a:hlink>
      <a:folHlink>
        <a:srgbClr val="A7C84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ProofLen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5bf1f113e04fc5" /><Relationship Type="http://schemas.openxmlformats.org/officeDocument/2006/relationships/image" Target="/ppt/media/image.png" Id="Rbcba652af2d543af" /><Relationship Type="http://schemas.openxmlformats.org/officeDocument/2006/relationships/notesSlide" Target="/ppt/notesSlides/notesSlide1.xml" Id="R5efdc2a2ca3b43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7b9a14944143b6" /><Relationship Type="http://schemas.openxmlformats.org/officeDocument/2006/relationships/notesSlide" Target="/ppt/notesSlides/notesSlide2.xml" Id="R8bb6b13d1d824d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ba17a3b10245ec" /><Relationship Type="http://schemas.openxmlformats.org/officeDocument/2006/relationships/image" Target="/ppt/media/image2.png" Id="R59d9bd2eed52440e" /><Relationship Type="http://schemas.openxmlformats.org/officeDocument/2006/relationships/notesSlide" Target="/ppt/notesSlides/notesSlide3.xml" Id="Rd58334c4244b4b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000e40cf0408f" /><Relationship Type="http://schemas.openxmlformats.org/officeDocument/2006/relationships/notesSlide" Target="/ppt/notesSlides/notesSlide4.xml" Id="Rbfa32f91839a48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9a50318c5f4939" /><Relationship Type="http://schemas.openxmlformats.org/officeDocument/2006/relationships/notesSlide" Target="/ppt/notesSlides/notesSlide5.xml" Id="R73ae30e0e53b44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9eb17d0df47a7" /><Relationship Type="http://schemas.openxmlformats.org/officeDocument/2006/relationships/notesSlide" Target="/ppt/notesSlides/notesSlide6.xml" Id="Ra1c7c03f8b724c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52cd38d97496a" /><Relationship Type="http://schemas.openxmlformats.org/officeDocument/2006/relationships/notesSlide" Target="/ppt/notesSlides/notesSlide7.xml" Id="Rafbdf6fbd0864a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7a5135c7d4caa" /><Relationship Type="http://schemas.openxmlformats.org/officeDocument/2006/relationships/notesSlide" Target="/ppt/notesSlides/notesSlide8.xml" Id="R92ae95b78b9f40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200CCB-E7DD-443C-B648-43AF1E48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ba652af2d543af"/>
          <a:stretch xmlns:a="http://schemas.openxmlformats.org/drawingml/2006/main"/>
        </p:blipFill>
        <p:spPr>
          <a:xfrm xmlns:a="http://schemas.openxmlformats.org/drawingml/2006/main">
            <a:off x="666750" y="876300"/>
            <a:ext cx="590550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C314D-D0A1-481D-B8E6-8B2F6858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7905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5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5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1612D-7E1A-41E2-A24E-E764D987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21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Cross-chain lending eligibility verified on Creditcoin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F4B65-1463-43F5-82CF-D2BB6DE5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67175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8A42B2-9A30-466D-8269-933CF9B7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BUIDL CTC 2026 Fall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443F7-B983-47EF-9130-81325512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323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DeFi track  /  Solo 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78AE84-8267-459F-9B5C-A99CA5F6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876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prooflend.vercel.app</a:t>
            </a:r>
          </a:p>
        </p:txBody>
      </p:sp>
    </p:spTree>
    <p:extLst>
      <p:ext uri="{BB962C8B-B14F-4D97-AF65-F5344CB8AC3E}">
        <p14:creationId xmlns:p14="http://schemas.microsoft.com/office/powerpoint/2010/main" val="11032896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5ADB83-95FA-4301-A21D-2F96BCC4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48C2C-8C72-4905-B577-AEE30CAF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45C40-A763-412C-A30C-DEDE5D9F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407953-DDC6-4BEF-9195-34F06C7C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Cross-chain lending still depends on trusted reports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F2121-3266-43F0-8F42-1B389A8B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A destination contract cannot inspect Ethereum by itself. Many applications fill that gap with a private indexer or backend assertion.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1CE1E2-ABE4-4EFA-8549-FAECE6C2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762500" cy="2552700"/>
          </a:xfrm>
          <a:prstGeom xmlns:a="http://schemas.openxmlformats.org/drawingml/2006/main" prst="roundRect">
            <a:avLst>
              <a:gd name="adj" fmla="val 6716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2260CE-BB42-404B-8E56-9279AEC6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27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Backend assertion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F6285-E35A-47BF-89AD-FB4857FF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242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“This address completed the required action.”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8C294F-086D-470E-A9F1-511B500C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00575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23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D78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2D78D"/>
                </a:solidFill>
                <a:latin typeface="Segoe UI"/>
                <a:ea typeface="Segoe UI"/>
                <a:cs typeface="Segoe UI"/>
              </a:rPr>
              <a:t>The lending contract must trust the reporter.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133CE-870E-42B4-AC54-56362B34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52725"/>
            <a:ext cx="5676900" cy="2552700"/>
          </a:xfrm>
          <a:prstGeom xmlns:a="http://schemas.openxmlformats.org/drawingml/2006/main" prst="roundRect">
            <a:avLst>
              <a:gd name="adj" fmla="val 6716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DC1C9-2541-4A31-B7DE-9374F3BC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861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27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 verified on Creditcoin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FD6909-E98D-4339-A507-D6EA6FF0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57600"/>
            <a:ext cx="476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Transaction bytes plus Merkle and continuity proofs reach the contract.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80295-5D07-4895-9B4E-F4E4B3B7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Only verified source data can change eligibility.</a:t>
            </a:r>
          </a:p>
        </p:txBody>
      </p:sp>
    </p:spTree>
    <p:extLst>
      <p:ext uri="{BB962C8B-B14F-4D97-AF65-F5344CB8AC3E}">
        <p14:creationId xmlns:p14="http://schemas.microsoft.com/office/powerpoint/2010/main" val="7233332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7D8B80-49EE-456A-9648-B6482417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532B3-4CB8-40DF-8C3E-C1793693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E5912-5345-4EC9-889C-7FC961A8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8C3E1-9754-4390-9DCE-4AE90FF5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 two-transaction path from signal to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2C766-C8B8-43C6-AD70-F153AB76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28750"/>
            <a:ext cx="487680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9bd2eed52440e"/>
          <a:srcRect xmlns:a="http://schemas.openxmlformats.org/drawingml/2006/main" l="0" t="18027" r="0" b="180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524000"/>
            <a:ext cx="4686300" cy="4572000"/>
          </a:xfrm>
          <a:prstGeom xmlns:a="http://schemas.openxmlformats.org/drawingml/2006/main" prst="roundRect">
            <a:avLst>
              <a:gd name="adj" fmla="val 291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93DA1A-5C47-43C4-A0A6-72EC7534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6BB07-7DF8-4AFE-9287-1CCE1BDB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2877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Create the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F5F742-9454-43DC-BA87-DBA7C5B6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47875"/>
            <a:ext cx="4762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The wallet emits EligibilityRequested on Sepolia.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EF85A-8A78-4CB5-90A8-7F5A2478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1942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4E02C-F6EE-4C28-9DB0-B94306A5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8132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Build the proof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7B45B4-BD57-4E34-ACC9-9DE2DBCA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00425"/>
            <a:ext cx="4762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ProofLend waits for attestation and obtains proof data.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F623A1-F444-4411-821D-71ACB430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719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750013-64AC-4533-BB5E-5BA100ED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3387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Record eligibility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D068D1-2947-4FF4-8D18-44364C53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52975"/>
            <a:ext cx="4762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The wallet submits the proof to Creditcoin.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9AE1F3-F354-4947-A737-3D8F306C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4357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The wallet signs. ProofLend never handles private keys.</a:t>
            </a:r>
          </a:p>
        </p:txBody>
      </p:sp>
    </p:spTree>
    <p:extLst>
      <p:ext uri="{BB962C8B-B14F-4D97-AF65-F5344CB8AC3E}">
        <p14:creationId xmlns:p14="http://schemas.microsoft.com/office/powerpoint/2010/main" val="14678498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1D1F1C-816D-4770-A3D6-390199E9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CB984-0C80-4074-9805-67305449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5589C-90BE-4499-95FF-9B9DC5C8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87614-BCEE-4921-8797-37B163A4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 verification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76829-16B4-4847-B114-0F31E34A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952625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8589F-CAC6-46C4-B056-9BC87D67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533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User wallet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E7F70D-D31B-48D6-AE96-E9942B3E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5335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Signs source and destination transactions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9AB96-6F8C-488B-A917-5E1B9BB7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019300"/>
            <a:ext cx="2333625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BE0212-5081-46DB-B955-ECBDF5F1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209800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Sepolia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3724C6-37FC-4A9D-87F5-667F97F6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571750"/>
            <a:ext cx="19145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EligibilityRequested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1E78E-C655-4E43-B162-CEEC1D58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019300"/>
            <a:ext cx="2571750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0403D6-E1C0-4AD3-9FAF-73D1F9C8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098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Attestcoin proof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2740E8-0BC6-46D5-B13E-8A1E3911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71750"/>
            <a:ext cx="21526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Transaction bytes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Merkle + continuity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3F763-A892-484E-AE14-FF68229F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19300"/>
            <a:ext cx="2971800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06697-B5BB-4F85-B8CA-B98C04AF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098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Creditcoin contract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48EA4D-6113-4D62-848D-EEF79478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71750"/>
            <a:ext cx="25527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Verifies, decodes, records</a:t>
            </a:r>
          </a:p>
        </p:txBody>
      </p:sp>
      <p:cxnSp>
        <p:nvCxnSpPr>
          <p:cNvPr id="48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66975" y="2709863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238750" y="2709863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48650" y="2709863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293D5D-E713-4E64-AE2C-648CB807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486275"/>
            <a:ext cx="2333625" cy="1190625"/>
          </a:xfrm>
          <a:prstGeom xmlns:a="http://schemas.openxmlformats.org/drawingml/2006/main" prst="roundRect">
            <a:avLst>
              <a:gd name="adj" fmla="val 14400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F03553-3654-4C13-BE7B-689F8C42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676775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Attestors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BF8127-A32D-42D5-977E-6D60981E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038725"/>
            <a:ext cx="19145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Commit Sepolia block 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455D7A-9224-44E7-A0F8-852522E7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95775"/>
            <a:ext cx="257175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917B34-8B3B-430F-95A0-D084B55A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86275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 service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AB756C-E2D5-4BB4-AB32-B1B73A38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848225"/>
            <a:ext cx="21526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Checks attested height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Uses official SDK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Requests Proof Builder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18142F-B2BE-43F9-B63D-3153DFE8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295775"/>
            <a:ext cx="297180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AC19CF-F1A1-4A5B-88DC-B3B10B24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86275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Native checks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21D33A-4379-4A46-9808-AFB36F9F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48225"/>
            <a:ext cx="2552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Verifier 0x0FD2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Approved event source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Replay protection</a:t>
            </a:r>
          </a:p>
        </p:txBody>
      </p:sp>
      <p:cxnSp>
        <p:nvCxnSpPr>
          <p:cNvPr id="60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5238750" y="5081588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23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8248650" y="5081588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E671A8-422D-4BEE-BA22-FD563066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State changes only after proof and event validation succeed.</a:t>
            </a:r>
          </a:p>
        </p:txBody>
      </p:sp>
    </p:spTree>
    <p:extLst>
      <p:ext uri="{BB962C8B-B14F-4D97-AF65-F5344CB8AC3E}">
        <p14:creationId xmlns:p14="http://schemas.microsoft.com/office/powerpoint/2010/main" val="4001891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BAEC84-7254-4C63-944B-DF13E2FE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EF6201-232A-40FD-9882-38D30188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CONTRACT LOGIC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725BB-24CE-49D3-AB50-722F3A5C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8310C3-4607-4386-A6A7-452EEA0B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The destination contract controls the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D009F2-B0EC-43BF-9391-A5AFEB79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34420-8D24-4D83-AC8C-99EAEC2B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526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Verify inclusion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AD4825-70A0-4BAB-98A0-618F2928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19325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0x0FD2 checks the Merkle and continuity proofs.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4C477-E1DF-4373-9EA2-54E66214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C8EC05-D30B-4EB6-83E5-EAB21919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526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85CE8-4C75-4C37-B607-02CFFDAD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526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Validate the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CBD3C2-DF81-4E98-BA91-D45DD572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The receipt must contain the expected signature from the configured source contract.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5B98B1-AB22-4E4A-9614-9185CF3F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48025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09466E-85A7-47B3-87CD-3903E3B0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774C62-D372-4E11-805D-3444D42A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052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Decode the applicant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B6CE03-4327-415C-8A2E-0B985996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EvmV1Decoder extracts the address and request ID from the proven receipt.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32F0DA-D23F-436F-8CB1-A5D44DEE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052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00CA8-4B8F-4270-8F72-A2A72992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052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Prevent 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B1C7C3-0BDE-4812-ABB3-C741D503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processedQueries rejects a second use of the same query ID.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886FEA-85B7-4B55-AC7F-BCADE43D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9A7CF-A525-410C-8458-A14F59B5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772150"/>
            <a:ext cx="10429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41E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0241E"/>
                </a:solidFill>
                <a:latin typeface="Segoe UI"/>
                <a:ea typeface="Segoe UI"/>
                <a:cs typeface="Segoe UI"/>
              </a:rPr>
              <a:t>verifiedRequestId[applicant] changes only after all four checks pass</a:t>
            </a:r>
          </a:p>
        </p:txBody>
      </p:sp>
    </p:spTree>
    <p:extLst>
      <p:ext uri="{BB962C8B-B14F-4D97-AF65-F5344CB8AC3E}">
        <p14:creationId xmlns:p14="http://schemas.microsoft.com/office/powerpoint/2010/main" val="14174597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77FF3B-EFFA-4E83-9C40-468E1E4E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185F45-507D-48B2-BFD1-8AF8970A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PUBLIC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23CC51-05FC-465D-9136-D0089276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D17350-160A-4748-9587-42C3D5D4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 Public testnet execution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A6687-062E-484A-ADC4-F11202B8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SEPOLIA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04067-1E06-4748-B6D8-80EA26EB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849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3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EligibilityRequested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A5D44-C806-4AA6-AFD2-5D1D2060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0xd5ba4fa9…ad820345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126335-9819-431C-930C-B3C27863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Request ID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5902D-71FA-4C07-99A7-57FE58E4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762125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E3232-382F-4766-AABE-67CC977A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CREDITCOIN EXECUTION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6135A3-6997-43A5-9C03-495783CC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849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3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EligibilityVerified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21D663-E7A9-4F27-98C5-06A7EBBE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051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0xdec3d335…e5a13096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6E74F5-8212-4512-B6F1-DDC5354E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Query ID 0x3170fd6f…4b47ba22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E868A-C7B5-416A-9828-A90F2B1B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FDE256-231E-4EEA-9FBA-83934BFE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Applicant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71DE4-620B-43C1-A9D6-F3F0A4E7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0xFC99c75De3188eB27f5331E24c51F4B68F1F4286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00CA71-AE46-48BE-AE71-8537EA5D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Both deployed contract addresses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8D43BF-DF7E-4FD0-88EE-7F09475C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0xa91ebc1dc12aa9c43e7acc2ac4227309bdd7188f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DB1E9B-6839-462E-A911-4CE5E24B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74357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09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2D78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D78D"/>
                </a:solidFill>
                <a:latin typeface="Segoe UI"/>
                <a:ea typeface="Segoe UI"/>
                <a:cs typeface="Segoe UI"/>
              </a:rPr>
              <a:t>Same address, separate bytecode on separate networks</a:t>
            </a:r>
          </a:p>
        </p:txBody>
      </p:sp>
    </p:spTree>
    <p:extLst>
      <p:ext uri="{BB962C8B-B14F-4D97-AF65-F5344CB8AC3E}">
        <p14:creationId xmlns:p14="http://schemas.microsoft.com/office/powerpoint/2010/main" val="13247570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4BD39A-734E-47CB-91F6-E1F795CE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06C991-ED25-4A39-8782-23A9CA29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16639-E63B-4065-87C0-32CE3DDD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CF9CB-C1DE-40CB-908D-785D16A1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 small stack with a clear trust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C7188-D5DD-4EF1-988C-CFAEF445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56EC9A-1D91-43CC-9BB5-2E19E3DE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Browser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C01480-47E9-450A-A028-EBB57367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573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React · Vite · ethers.js · EIP-6963 wallet discovery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D3D6FA-1BCA-41E2-A4DF-80CAE680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3CA387-E428-4F38-8CD9-AA94F22C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479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 service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8D3572-A955-465A-9790-63F7AB9C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479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Vercel Function · @gluwa/usc-sdk · Proof Builder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5310F6-0F4D-408C-836A-BC92DAAB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121E08-1469-41AC-9516-3F0A0FD0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385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Source contract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AC8C41-1514-4104-B492-8202D603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385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ProofLendSignal on Ethereum Sepolia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A210-C6CB-4A1F-BC16-B87FE312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63275D-7BB6-413E-97C3-CC606419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291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Execution contract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08029D-B506-4F97-87B7-11CA4970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8291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ProofLendEligibility · EvmV1Decoder · verifier precompile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BBE58E-FF35-466D-B732-934F6F5C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2 contracts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77D3C5-DB52-48A6-8089-E9537287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8864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2 public testnets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7BE617-7187-4113-B962-DE0D6D31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88645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 private keys handled by the app</a:t>
            </a:r>
          </a:p>
        </p:txBody>
      </p:sp>
    </p:spTree>
    <p:extLst>
      <p:ext uri="{BB962C8B-B14F-4D97-AF65-F5344CB8AC3E}">
        <p14:creationId xmlns:p14="http://schemas.microsoft.com/office/powerpoint/2010/main" val="18134609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EFD6D0-251D-4508-90CC-F794D1C0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59F75-FDF5-4945-82D0-AEC49C4E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NEXT VERSION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63D1BD-380A-4477-A600-350D2384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14F2FF-AB89-4404-BF90-5A93E41A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 can verify real lending signals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1F590-0B80-4E37-9F42-DED7A1EA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TODAY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22B2A-2BFF-4EDC-A141-167C2F5C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346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 simple eligibility event proves the complete Attestcoin path end to 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DAD7D1-DCCD-4156-848A-28C7B423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NEXT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924F5A-AC13-47CA-AC0E-B86B549E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02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4E6679-9A71-4D7A-A0FA-9B3B7F57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5265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20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Repayment and collateral events as verified inputs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A6DBCF-259C-4FCD-9A9F-C18F6DE0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813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347327-6EBF-4AAD-8156-020609ED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3370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952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Policy contracts that combine several proven signals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038193-9385-4489-840E-135C4520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623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36F2D-83D2-423F-8EB9-C955996A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333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Relayed and batched proofs for a simpler user experience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EFE792-15AD-4C5C-98B3-C96E1F8B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BC42D6-B683-4C80-A77C-DF4A24DE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71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Live demo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BF56C9-AE23-4FA0-87F9-C90D2362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prooflend.vercel.app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ABA890-3D1D-4C1C-A473-37D24D75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181600"/>
            <a:ext cx="171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Source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69C100-463B-490C-B782-2B659DA3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24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github.com/Elvino03/prooflend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972AB7-3EBF-4ED4-A92E-C3A58F21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2D78D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F2D78D"/>
                </a:solidFill>
                <a:latin typeface="Segoe UI"/>
                <a:ea typeface="Segoe UI"/>
                <a:cs typeface="Segoe UI"/>
              </a:rPr>
              <a:t>Testnet prototype. Eligibility is not a real credit score or loan offer.</a:t>
            </a:r>
          </a:p>
        </p:txBody>
      </p:sp>
    </p:spTree>
    <p:extLst>
      <p:ext uri="{BB962C8B-B14F-4D97-AF65-F5344CB8AC3E}">
        <p14:creationId xmlns:p14="http://schemas.microsoft.com/office/powerpoint/2010/main" val="1172245197"/>
      </p:ext>
    </p:extLst>
  </p:cSld>
</p:sld>
</file>

<file path=ppt/theme/theme1.xml><?xml version="1.0" encoding="utf-8"?>
<a:theme xmlns:a="http://schemas.openxmlformats.org/drawingml/2006/main" name="ChatGPT">
  <a:themeElements>
    <a:clrScheme name="ProofLend">
      <a:dk1>
        <a:srgbClr val="07110E"/>
      </a:dk1>
      <a:lt1>
        <a:srgbClr val="F3F7EF"/>
      </a:lt1>
      <a:dk2>
        <a:srgbClr val="17352C"/>
      </a:dk2>
      <a:lt2>
        <a:srgbClr val="E2EBDD"/>
      </a:lt2>
      <a:accent1>
        <a:srgbClr val="D8FE60"/>
      </a:accent1>
      <a:accent2>
        <a:srgbClr val="75A48B"/>
      </a:accent2>
      <a:accent3>
        <a:srgbClr val="F2D78D"/>
      </a:accent3>
      <a:accent4>
        <a:srgbClr val="EF8F83"/>
      </a:accent4>
      <a:accent5>
        <a:srgbClr val="8B7CF6"/>
      </a:accent5>
      <a:accent6>
        <a:srgbClr val="67C4D4"/>
      </a:accent6>
      <a:hlink>
        <a:srgbClr val="D8FE60"/>
      </a:hlink>
      <a:folHlink>
        <a:srgbClr val="A7C84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ProofLen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2026-09-08T19:13:45.3600000Z</dcterms:created>
  <dcterms:modified xsi:type="dcterms:W3CDTF">2026-09-08T19:13:45.3600000Z</dcterms:modified>
</coreProperties>
</file>