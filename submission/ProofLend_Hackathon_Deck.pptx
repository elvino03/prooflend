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e8dfb495de54324" /><Relationship Type="http://schemas.openxmlformats.org/officeDocument/2006/relationships/extended-properties" Target="/docProps/app.xml" Id="R67ef3606967c4523" /><Relationship Type="http://schemas.openxmlformats.org/officeDocument/2006/relationships/officeDocument" Target="/ppt/presentation.xml" Id="R0f12ada0aa174d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263e4c6c8a4fd6"/>
  </p:sldMasterIdLst>
  <p:notesMasterIdLst>
    <p:notesMasterId xmlns:r="http://schemas.openxmlformats.org/officeDocument/2006/relationships" r:id="Re19ebc27b4d94fbd"/>
  </p:notesMasterIdLst>
  <p:sldIdLst>
    <p:sldId xmlns:r="http://schemas.openxmlformats.org/officeDocument/2006/relationships" id="256" r:id="Rdba9fcdbec234591"/>
    <p:sldId xmlns:r="http://schemas.openxmlformats.org/officeDocument/2006/relationships" id="257" r:id="Ra4e53f8d2b474187"/>
    <p:sldId xmlns:r="http://schemas.openxmlformats.org/officeDocument/2006/relationships" id="258" r:id="Rd98b3f19a85f422f"/>
    <p:sldId xmlns:r="http://schemas.openxmlformats.org/officeDocument/2006/relationships" id="259" r:id="R66d7e3d6e24541bb"/>
    <p:sldId xmlns:r="http://schemas.openxmlformats.org/officeDocument/2006/relationships" id="260" r:id="R6ffb25c87c474426"/>
    <p:sldId xmlns:r="http://schemas.openxmlformats.org/officeDocument/2006/relationships" id="261" r:id="Raedf1ebe7b234e2d"/>
    <p:sldId xmlns:r="http://schemas.openxmlformats.org/officeDocument/2006/relationships" id="262" r:id="R21d1a66781c14a83"/>
    <p:sldId xmlns:r="http://schemas.openxmlformats.org/officeDocument/2006/relationships" id="263" r:id="Rb8e91ce65bee4ee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6a2dbbd5814388" /><Relationship Type="http://schemas.openxmlformats.org/officeDocument/2006/relationships/slideMaster" Target="/ppt/slideMasters/slideMaster1.xml" Id="R63263e4c6c8a4fd6" /><Relationship Type="http://schemas.openxmlformats.org/officeDocument/2006/relationships/notesMaster" Target="/ppt/notesMasters/notesMaster1.xml" Id="Re19ebc27b4d94fbd" /><Relationship Type="http://schemas.openxmlformats.org/officeDocument/2006/relationships/presProps" Target="/ppt/presProps.xml" Id="R90c73af61525422c" /><Relationship Type="http://schemas.openxmlformats.org/officeDocument/2006/relationships/tableStyles" Target="/ppt/tableStyles.xml" Id="R31a146a3e52b4e03" /><Relationship Type="http://schemas.openxmlformats.org/officeDocument/2006/relationships/slide" Target="/ppt/slides/slide1.xml" Id="Rdba9fcdbec234591" /><Relationship Type="http://schemas.openxmlformats.org/officeDocument/2006/relationships/slide" Target="/ppt/slides/slide2.xml" Id="Ra4e53f8d2b474187" /><Relationship Type="http://schemas.openxmlformats.org/officeDocument/2006/relationships/slide" Target="/ppt/slides/slide3.xml" Id="Rd98b3f19a85f422f" /><Relationship Type="http://schemas.openxmlformats.org/officeDocument/2006/relationships/slide" Target="/ppt/slides/slide4.xml" Id="R66d7e3d6e24541bb" /><Relationship Type="http://schemas.openxmlformats.org/officeDocument/2006/relationships/slide" Target="/ppt/slides/slide5.xml" Id="R6ffb25c87c474426" /><Relationship Type="http://schemas.openxmlformats.org/officeDocument/2006/relationships/slide" Target="/ppt/slides/slide6.xml" Id="Raedf1ebe7b234e2d" /><Relationship Type="http://schemas.openxmlformats.org/officeDocument/2006/relationships/slide" Target="/ppt/slides/slide7.xml" Id="R21d1a66781c14a83" /><Relationship Type="http://schemas.openxmlformats.org/officeDocument/2006/relationships/slide" Target="/ppt/slides/slide8.xml" Id="Rb8e91ce65bee4ee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5dd36138a8473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580134a92744bda" /><Relationship Type="http://schemas.openxmlformats.org/officeDocument/2006/relationships/notesMaster" Target="/ppt/notesMasters/notesMaster1.xml" Id="Rbc8bb2f8d507455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d1c562bae0418e" /><Relationship Type="http://schemas.openxmlformats.org/officeDocument/2006/relationships/notesMaster" Target="/ppt/notesMasters/notesMaster1.xml" Id="Red61a2b5fe7e4f7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67071f1906e4f64" /><Relationship Type="http://schemas.openxmlformats.org/officeDocument/2006/relationships/notesMaster" Target="/ppt/notesMasters/notesMaster1.xml" Id="Rb5a3c09f417f47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4c8d3bb098148da" /><Relationship Type="http://schemas.openxmlformats.org/officeDocument/2006/relationships/notesMaster" Target="/ppt/notesMasters/notesMaster1.xml" Id="R734e67d85df044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fc6dd263154cec" /><Relationship Type="http://schemas.openxmlformats.org/officeDocument/2006/relationships/notesMaster" Target="/ppt/notesMasters/notesMaster1.xml" Id="Rcd9fe54f5caf4b3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2e6db7609248fa" /><Relationship Type="http://schemas.openxmlformats.org/officeDocument/2006/relationships/notesMaster" Target="/ppt/notesMasters/notesMaster1.xml" Id="Rbbd7d204726b4a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22c762947cb452c" /><Relationship Type="http://schemas.openxmlformats.org/officeDocument/2006/relationships/notesMaster" Target="/ppt/notesMasters/notesMaster1.xml" Id="Rcaf502f7bdd94f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e2d4c54722d49d6" /><Relationship Type="http://schemas.openxmlformats.org/officeDocument/2006/relationships/notesMaster" Target="/ppt/notesMasters/notesMaster1.xml" Id="Rf649c019744e4d9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ProofLend turns a source-chain event into lending eligibility that a Creditcoin contract verifies for itself.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https://buidl.creditcoin.org/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design choice: the off-chain component gathers public material, while the destination contract enforces trust.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https://docs.creditcoin.org/usc/overview/usc-architecture-overview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user flow. Mention the attestation wait, automatic retries, network switching, and public explorer links.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source: 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the source emits a narrow event. Attestcoin anchors source-chain state. The proof service retrieves public proof material. The Creditcoin contract verifies and interprets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https://docs.creditcoin.org/usc/dapp-builder-infrastructure/dapp-design-patterns</a:t>
            </a:r>
          </a:p>
          <a:p xmlns:a="http://schemas.openxmlformats.org/drawingml/2006/main">
            <a:r>
              <a:t>https://docs.creditcoin.org/usc/creditcoin-oracle-subsystems/proving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that Attestcoin is a required execution input. The proof builder cannot directly write eligibility. The contract enforces source validation and replay protection.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https://docs.creditcoin.org/usc/dapp-builder-infrastructure/universal-smart-contracts</a:t>
            </a:r>
          </a:p>
          <a:p xmlns:a="http://schemas.openxmlformats.org/drawingml/2006/main">
            <a:r>
              <a:t>Project contract: contracts/src/ProofLendEligibility.sol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both explorer links during the demo and show successful status plus emitted events.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https://sepolia.etherscan.io/tx/0xd5ba4fa9041a7de72bcbee6ca12ef32c8e188c4ef828564469989a69ad820345</a:t>
            </a:r>
          </a:p>
          <a:p xmlns:a="http://schemas.openxmlformats.org/drawingml/2006/main">
            <a:r>
              <a:t>https://creditcoin-testnet.blockscout.com/tx/0xdec3d335a1d178fa92e05af5818b607669fa8d9de0c1b4fc6d6e2626e5a13096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keeps source logic narrow and destination checks explicit. Wallets sign both transactions, and the application does not custody funds or credentials.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concrete next product step and direct judges to the live application, repository, and public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https://prooflend.vercel.app/</a:t>
            </a:r>
          </a:p>
          <a:p xmlns:a="http://schemas.openxmlformats.org/drawingml/2006/main">
            <a:r>
              <a:t>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efd2d368644b4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d8c31a9347471c" /><Relationship Type="http://schemas.openxmlformats.org/officeDocument/2006/relationships/slideLayout" Target="/ppt/slideLayouts/slideLayout1.xml" Id="R283e423a1c3c43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3e423a1c3c43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07ce717da40b2" /><Relationship Type="http://schemas.openxmlformats.org/officeDocument/2006/relationships/image" Target="/ppt/media/image.png" Id="R45aca1739b3d40b9" /><Relationship Type="http://schemas.openxmlformats.org/officeDocument/2006/relationships/notesSlide" Target="/ppt/notesSlides/notesSlide1.xml" Id="Rf2f9811ed05344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b1ceb056c47ab" /><Relationship Type="http://schemas.openxmlformats.org/officeDocument/2006/relationships/notesSlide" Target="/ppt/notesSlides/notesSlide2.xml" Id="R0b930b68181549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48a30c3484a15" /><Relationship Type="http://schemas.openxmlformats.org/officeDocument/2006/relationships/image" Target="/ppt/media/image2.png" Id="R32d7f5f388c141db" /><Relationship Type="http://schemas.openxmlformats.org/officeDocument/2006/relationships/notesSlide" Target="/ppt/notesSlides/notesSlide3.xml" Id="Red524e44a40543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2632eb123d4162" /><Relationship Type="http://schemas.openxmlformats.org/officeDocument/2006/relationships/notesSlide" Target="/ppt/notesSlides/notesSlide4.xml" Id="R2fc7a73e88724f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4d33609694ed4" /><Relationship Type="http://schemas.openxmlformats.org/officeDocument/2006/relationships/notesSlide" Target="/ppt/notesSlides/notesSlide5.xml" Id="Ra04fe042aab045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e6a4617be045ed" /><Relationship Type="http://schemas.openxmlformats.org/officeDocument/2006/relationships/notesSlide" Target="/ppt/notesSlides/notesSlide6.xml" Id="R59d53a69aa7941f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0653364c243b2" /><Relationship Type="http://schemas.openxmlformats.org/officeDocument/2006/relationships/notesSlide" Target="/ppt/notesSlides/notesSlide7.xml" Id="R8e449ed727d247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fd4db087b4a95" /><Relationship Type="http://schemas.openxmlformats.org/officeDocument/2006/relationships/notesSlide" Target="/ppt/notesSlides/notesSlide8.xml" Id="Rf9dd5d37b6b540a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2030C-E467-4611-A488-7CA18E16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ca1739b3d40b9"/>
          <a:stretch xmlns:a="http://schemas.openxmlformats.org/drawingml/2006/main"/>
        </p:blipFill>
        <p:spPr>
          <a:xfrm xmlns:a="http://schemas.openxmlformats.org/drawingml/2006/main">
            <a:off x="666750" y="876300"/>
            <a:ext cx="590550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1A0D73-D623-459D-A2AA-BC043694E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790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5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E22459-F465-4CCE-85E4-17F16F8F6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21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Cross-chain lending eligibility verified on Creditcoin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F41F6-8B97-4B29-9133-F3E7EA27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67175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EC0D68-2F2D-43E0-9237-F6166547C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BUIDL CTC 2026 Fall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8F265-C36E-4153-A1F1-17D87197A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323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DeFi track  /  Solo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02412-59E0-4384-856A-BCE47FB9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76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prooflend.vercel.app</a:t>
            </a:r>
          </a:p>
        </p:txBody>
      </p:sp>
    </p:spTree>
    <p:extLst>
      <p:ext uri="{BB962C8B-B14F-4D97-AF65-F5344CB8AC3E}">
        <p14:creationId xmlns:p14="http://schemas.microsoft.com/office/powerpoint/2010/main" val="13335675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DA3E90-47C2-4DC0-B633-A9AE9DF4F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9D182-848E-4ACA-BECB-24815C5B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A4CB6E-7A5C-4D43-B0E3-C6E9E4E47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ABABAB-8A0A-489E-9686-02ED0EC4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Cross-chain lending still depends on trusted reports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A794A-E2A7-4C6D-B4BC-51C67584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A destination contract cannot inspect Ethereum by itself. Many applications fill that gap with a private indexer or backend assertion.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1C3934-FFEA-497E-879B-237988A2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762500" cy="2552700"/>
          </a:xfrm>
          <a:prstGeom xmlns:a="http://schemas.openxmlformats.org/drawingml/2006/main" prst="roundRect">
            <a:avLst>
              <a:gd name="adj" fmla="val 6716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B600BF-79A2-40F3-B5DD-3CB2A6BC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7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Backend assertion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0352FD-6904-4BED-8C33-07C7FEBF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242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“This address completed the required action.”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9D770-E60F-4203-962A-C1A01C53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00575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23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The lending contract must trust the reporter.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D29442-87D7-4A3E-ACD9-172E58AD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52725"/>
            <a:ext cx="5676900" cy="2552700"/>
          </a:xfrm>
          <a:prstGeom xmlns:a="http://schemas.openxmlformats.org/drawingml/2006/main" prst="roundRect">
            <a:avLst>
              <a:gd name="adj" fmla="val 6716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FE1DEB-4CB0-49F5-8C41-478DBE64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861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7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verified on Creditcoin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DF5D9-AF26-46B9-8AE4-6516FB5D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57600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Transaction bytes plus Merkle and continuity proofs reach the contract.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7F0B58-A1EE-4BF9-B591-CD84FF32C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Only verified source data can change eligibility.</a:t>
            </a:r>
          </a:p>
        </p:txBody>
      </p:sp>
    </p:spTree>
    <p:extLst>
      <p:ext uri="{BB962C8B-B14F-4D97-AF65-F5344CB8AC3E}">
        <p14:creationId xmlns:p14="http://schemas.microsoft.com/office/powerpoint/2010/main" val="21060807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51B51A-9BDF-4680-9F37-F269DED6B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81D88-86C2-42BD-A4DA-6E497E68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21AF2D-DDD4-4D70-8CA3-C813D1E8E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3346F2-77D3-4DE2-B3A2-0D4FA988B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two-transaction path from signal to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CFE1E-6111-4D5D-8F64-60F1CC99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28750"/>
            <a:ext cx="48768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d7f5f388c141db"/>
          <a:srcRect xmlns:a="http://schemas.openxmlformats.org/drawingml/2006/main" l="0" t="18027" r="0" b="18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524000"/>
            <a:ext cx="4686300" cy="4572000"/>
          </a:xfrm>
          <a:prstGeom xmlns:a="http://schemas.openxmlformats.org/drawingml/2006/main" prst="roundRect">
            <a:avLst>
              <a:gd name="adj" fmla="val 291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B282D1-2E5F-4D07-B5AE-2B2135BB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6F316-595E-439E-90CE-9FA6D562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2877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Create the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26FD7B-81DB-4EC0-BDAB-59406B92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4787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wallet emits EligibilityRequested on Sepolia.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EAF51-632F-4632-86D1-D60BC970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1942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CADAB-DD97-4636-94E7-0FD11E29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8132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Build the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E56A8B-BDF6-4720-85D6-B27C7441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0042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ProofLend waits for attestation and obtains proof data.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18093-09BB-4813-B3AD-F9FCF963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719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58B652-58CF-4536-BC4F-BEEC5F46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3387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Record eligibility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E518E1-8E84-4A56-92F4-70641A4F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5297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wallet submits the proof to Creditcoin.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58696C-B8CA-41A4-BA33-EFB583A6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435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The wallet signs. ProofLend never handles private keys.</a:t>
            </a:r>
          </a:p>
        </p:txBody>
      </p:sp>
    </p:spTree>
    <p:extLst>
      <p:ext uri="{BB962C8B-B14F-4D97-AF65-F5344CB8AC3E}">
        <p14:creationId xmlns:p14="http://schemas.microsoft.com/office/powerpoint/2010/main" val="7993369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2402BC-AFBE-4F1E-8088-DE9ECD101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3CA25A-2C9D-4952-BE2F-C85FA1D9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1E9D5C-E8B9-4705-AAD4-929ABF4E9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7E6691-E6D6-401F-ADB3-E4EAD3E7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 verification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822A1F-B5B2-4196-8F10-92FE94D2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952625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56DBF-849A-4755-B99C-B3413324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User wallet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8AD4E-1838-4FCD-95A2-B903454A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5335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Signs source and destination transactions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6134A7-CAD6-4975-B1E8-153351ED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19300"/>
            <a:ext cx="2333625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460A2F-A8D0-4857-8C19-E36246B1E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09800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Sepolia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FA3DDB-7C65-4B6D-8F27-BFD108D8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571750"/>
            <a:ext cx="19145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EligibilityRequested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794B59-B826-4BEE-BE66-849CB124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19300"/>
            <a:ext cx="2571750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5EEF7-79BC-437D-960A-040B84F8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098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Attestcoin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F5713-717C-40CD-A55E-0B47A7526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71750"/>
            <a:ext cx="21526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Transaction bytes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Merkle + continuity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9586C1-3851-40AC-98F4-22AB44CEB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19300"/>
            <a:ext cx="2971800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2C08E-B587-4C38-9B73-4F74D942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98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Creditcoin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E08C51-3F0B-4200-BF4C-F7B8A720B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71750"/>
            <a:ext cx="2552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Verifies, decodes, records</a:t>
            </a:r>
          </a:p>
        </p:txBody>
      </p:sp>
      <p:cxnSp>
        <p:nvCxnSpPr>
          <p:cNvPr id="48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66975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238750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48650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1835E4-C3B7-4DCD-A1A4-F3955430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86275"/>
            <a:ext cx="2333625" cy="1190625"/>
          </a:xfrm>
          <a:prstGeom xmlns:a="http://schemas.openxmlformats.org/drawingml/2006/main" prst="roundRect">
            <a:avLst>
              <a:gd name="adj" fmla="val 14400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D2520A-813B-4381-BDA8-826EDBF61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676775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Attestors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33CFC-1DFF-4762-9266-16798A76A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038725"/>
            <a:ext cx="19145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Commit Sepolia block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C2E845-B1F2-4AD5-BE2D-6591285B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95775"/>
            <a:ext cx="2571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889E3F-55AE-411C-BE8B-8B527556F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86275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8A349E-984D-4FF0-97BF-7AA415B6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48225"/>
            <a:ext cx="21526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Checks attested height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Uses official SDK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Requests Proof Builder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6C0BF4-543D-4C1B-98F0-274F5688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95775"/>
            <a:ext cx="297180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89EA76-C4F1-4013-987E-CBDB5E5B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Native checks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D64BE2-89AB-436A-9161-726404BE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48225"/>
            <a:ext cx="2552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Verifier 0x0FD2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Approved event source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Replay protection</a:t>
            </a:r>
          </a:p>
        </p:txBody>
      </p:sp>
      <p:cxnSp>
        <p:nvCxnSpPr>
          <p:cNvPr id="60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5238750" y="508158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8248650" y="508158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C4C26B-2BC9-4359-9690-C85EACDE1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State changes only after proof and event validation succeed.</a:t>
            </a:r>
          </a:p>
        </p:txBody>
      </p:sp>
    </p:spTree>
    <p:extLst>
      <p:ext uri="{BB962C8B-B14F-4D97-AF65-F5344CB8AC3E}">
        <p14:creationId xmlns:p14="http://schemas.microsoft.com/office/powerpoint/2010/main" val="39496330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4628D4-207B-463F-B4F0-55BBA6E5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9A70D1-B483-4A15-87D7-DAA9B02A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CONTRACT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2508CD-4129-4146-815D-FA33A325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957E1-D840-42CF-B7B9-0316F40E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The destination contract controls the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092534-1384-41C2-8240-68F4F928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BAFAA-093C-4FC9-A874-82CAEE5F9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Verify inclusion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D279F9-794C-4885-8D45-B385E96A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1932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0x0FD2 checks the Merkle and continuity proofs.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C4E9E-4B25-4A22-980D-EF73CB74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3DE79-0431-484F-8811-D18EB54D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81AA1C-74BE-4340-ADD3-A5AFE98A2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Validate the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B69DE1-E9C0-4998-840B-E5FCAF08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receipt must contain the expected signature from the configured source contract.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790D38-B5F8-4FE7-B9D5-B6E47717B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48025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1B8ECA-B6EA-409E-BD26-06552755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F0C3B3-FE27-4404-A8FD-BA81BEB8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052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Decode the applicant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7FBA56-1137-46D0-B77E-58DBC594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EvmV1Decoder extracts the address and request ID from the proven receipt.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899A06-9B1B-4A03-A7E2-976AA99B9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052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2C6877-603A-405E-9C4B-39233D7B1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052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Prevent 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DAFC3D-4E25-427F-A470-5A9D7EF6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processedQueries rejects a second use of the same query ID.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BC3343-7EA4-4BEE-9BA6-9840BE32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2E9416-818B-4C0C-AC8E-A5970CD6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772150"/>
            <a:ext cx="10429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41E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0241E"/>
                </a:solidFill>
                <a:latin typeface="Segoe UI"/>
                <a:ea typeface="Segoe UI"/>
                <a:cs typeface="Segoe UI"/>
              </a:rPr>
              <a:t>verifiedRequestId[applicant] changes only after all four checks pass</a:t>
            </a:r>
          </a:p>
        </p:txBody>
      </p:sp>
    </p:spTree>
    <p:extLst>
      <p:ext uri="{BB962C8B-B14F-4D97-AF65-F5344CB8AC3E}">
        <p14:creationId xmlns:p14="http://schemas.microsoft.com/office/powerpoint/2010/main" val="2287760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42F7FB-76C3-4F56-9940-4EAB2EA55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ECBB4-3F8B-445B-9FC6-FEA40826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PUBLIC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F637D-1971-4769-87A0-C866EAA1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61ED2C-E2CC-42B7-94B6-7F5B25D68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 Public testnet execution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9CE4AA-267E-45AD-A369-0867B3A9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SEPOLIA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31F2B2-482B-44F8-B3E5-6EAECA139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84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EligibilityRequested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E3BC2A-602F-4114-AB43-E92380FD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0xd5ba4fa9…ad820345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5BE8D-0451-4CE9-918D-D6119A07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Request ID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AE898-1DBF-4202-8068-451AEC70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762125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1A61F6-FF1E-454B-8D65-8B2646AC3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CREDITCOIN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101A68-8C29-4145-9D12-D7F95715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84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EligibilityVerified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EAE80C-6E6A-48D3-A159-B6202DEDA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05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0xdec3d335…e5a13096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1F3E3F-560B-49C1-AB2D-4BC8FF6F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Query ID 0x3170fd6f…4b47ba22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CFB97-1B87-490D-9EFA-98E542B56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78653-8136-4877-A464-E9E8552C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Applicant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034DBE-BC3F-4246-B83D-6A0959D7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0xFC99c75De3188eB27f5331E24c51F4B68F1F4286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D3D83-705A-427E-88B5-413937090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Both deployed contract addresses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087D82-0F56-4BCD-ACA4-2FC4B235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0xa91ebc1dc12aa9c43e7acc2ac4227309bdd7188f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02E50-D01A-4E54-AD4B-627652DA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435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09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Same address, separate bytecode on separate networks</a:t>
            </a:r>
          </a:p>
        </p:txBody>
      </p:sp>
    </p:spTree>
    <p:extLst>
      <p:ext uri="{BB962C8B-B14F-4D97-AF65-F5344CB8AC3E}">
        <p14:creationId xmlns:p14="http://schemas.microsoft.com/office/powerpoint/2010/main" val="6631773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D0E0D8-8069-4DB5-BCBB-7D7F7EB7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EAA6A-CA27-4228-BFAD-4106A157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99E9D1-5E48-4CB0-922C-623192451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1007A-BF7C-4B61-843B-9C311184E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small stack with a clear trust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F97B0-D88C-4296-AFEB-5D21BE82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F3E14-6BDD-4267-8083-0FA409303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Browser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BDF05-BF87-4578-88B1-428906AC6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573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React · Vite · ethers.js · EIP-6963 wallet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742E3-266B-48DD-8391-33B6E45E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22CAD6-DF66-4A3A-8E18-A62B6844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479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service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EA4FF9-6BBA-4E95-8B5A-332FA664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479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Vercel Function · @gluwa/usc-sdk · Proof Builder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4229D8-EC43-4B54-B3A7-181E1187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C790A5-6E5D-41A0-BEB5-CC2F68CDA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385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Source 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8B0A35-D436-47FB-8C0F-AFE2978A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385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ProofLendSignal on Ethereum Sepolia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3D0D6F-8D21-435C-BC58-0E1A6B01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5257C5-E7B3-4767-A9D6-363D66CD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Execution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A27714-0D3C-4183-89D0-7C96E951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8291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ProofLendEligibility · EvmV1Decoder · verifier precompile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C2FA3D-799C-4B44-8D9D-2469DBB4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 contracts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6A6CE2-186C-4AA4-BE27-E333553D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886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 public testnets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DC799D-28BC-46A2-88DA-21F91C90F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8864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 private keys handled by the app</a:t>
            </a:r>
          </a:p>
        </p:txBody>
      </p:sp>
    </p:spTree>
    <p:extLst>
      <p:ext uri="{BB962C8B-B14F-4D97-AF65-F5344CB8AC3E}">
        <p14:creationId xmlns:p14="http://schemas.microsoft.com/office/powerpoint/2010/main" val="39553394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840AD-831D-4D00-BAB2-9994CC13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752A4-10E8-49AF-9555-54A18772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NEXT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0EF3C-6533-4423-81AF-5D7AF267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5BD479-5C8D-48C0-83E2-4B9A6676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 can verify real lending signals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192A08-9E72-498A-9ADD-B5CD024F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TODAY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E66D69-2324-4D55-9666-1EA817079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346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simple eligibility event proves the complete Attestcoin path end to 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241A2D-73E4-4282-AC90-DB6D6662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NEXT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33B20-DF1B-4115-98F6-CCEA296DF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02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125940-E015-41F7-AF22-F0B309A5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5265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0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Repayment and collateral events as verified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96DF23-609B-4F98-B602-669C488DA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81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77FB88-10CD-4ADD-88F0-26578695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3370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95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Policy contracts that combine several proven signals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04D9C-1D52-4A1E-9226-35F3FBA3E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623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82BD87-05DF-413C-8FD1-C9032D80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333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Relayed and batched proofs for a simpler user experience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EE12D6-DFB3-4CC2-885C-8244E740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431B92-A68B-4AAF-989A-98985328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71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Live demo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6FE49A-A76E-419D-B873-395A0A15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prooflend.vercel.app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2A2A2B-C1B7-4648-B23E-FD89E1FC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181600"/>
            <a:ext cx="171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Source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9BBD71-FC1F-4B35-8F73-7056A2CA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24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github.com/Elvino03/prooflend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76C64-8D1A-45D9-AE43-DB0700F6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Testnet prototype. Eligibility is not a real credit score or loan offer.</a:t>
            </a:r>
          </a:p>
        </p:txBody>
      </p:sp>
    </p:spTree>
    <p:extLst>
      <p:ext uri="{BB962C8B-B14F-4D97-AF65-F5344CB8AC3E}">
        <p14:creationId xmlns:p14="http://schemas.microsoft.com/office/powerpoint/2010/main" val="627370282"/>
      </p:ext>
    </p:extLst>
  </p:cSld>
</p:sld>
</file>

<file path=ppt/theme/theme1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2026-09-08T13:37:12.3180000Z</dcterms:created>
  <dcterms:modified xsi:type="dcterms:W3CDTF">2026-09-08T13:37:12.3180000Z</dcterms:modified>
</coreProperties>
</file>